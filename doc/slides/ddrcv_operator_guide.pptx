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Audience: the person setting up or running the tournament station.</a:t>
            </a:r>
          </a:p>
          <a:p>
            <a:r>
              <a:t>Walk through slides 1–16 before the event; use slides 17–21 at the desk.</a:t>
            </a:r>
          </a:p>
          <a:p>
            <a:r>
              <a:t>The screenshots are current desktop forms in an isolated stopped session,</a:t>
            </a:r>
          </a:p>
          <a:p>
            <a:r>
              <a:t>with example local paths and no credentials. They are not a live rehearsal.</a:t>
            </a:r>
          </a:p>
          <a:p>
            <a:r>
              <a:t>Source: doc/operator_walkthrough.md and doc/operator_reference.md.</a:t>
            </a:r>
          </a:p>
          <a:p>
            <a:r>
              <a:t>Source/UI snapshot: 18 September 2026. Recheck labels after application updates.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DDRCV reads the full DDR World game feed and publishes live scores.</a:t>
            </a:r>
          </a:p>
          <a:p>
            <a:r>
              <a:t>ddr_score_render is a separate repository that displays those scores in a</a:t>
            </a:r>
          </a:p>
          <a:p>
            <a:r>
              <a:t>window. OBS can capture that window and optionally automate scene selection.</a:t>
            </a:r>
          </a:p>
          <a:p>
            <a:r>
              <a:t>Results capture saves evidence locally and can send it through a Discord webhook.</a:t>
            </a:r>
          </a:p>
          <a:p>
            <a:r>
              <a:t>Neither OBS nor the renderer is required to verify recognition itself.</a:t>
            </a:r>
          </a:p>
          <a:p>
            <a:r>
              <a:t>Source: doc/operator_walkthrough.md, introduction and sections 5–7.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version or ZIP supplied by the event organizer. Extract it into a</a:t>
            </a:r>
          </a:p>
          <a:p>
            <a:r>
              <a:t>writable folder, not Program Files and not inside the ZIP. First setup needs</a:t>
            </a:r>
          </a:p>
          <a:p>
            <a:r>
              <a:t>internet. No existing Python install is necessary. Live capture is fixed at</a:t>
            </a:r>
          </a:p>
          <a:p>
            <a:r>
              <a:t>1280 × 720; a full-frame 16:9 recording can be resized explicitly.</a:t>
            </a:r>
          </a:p>
          <a:p>
            <a:r>
              <a:t>OBS, renderer assets, and a webhook are optional. Get the renderer repository</a:t>
            </a:r>
          </a:p>
          <a:p>
            <a:r>
              <a:t>and its assets from the organizer; DDRCV setup does not download them.</a:t>
            </a:r>
          </a:p>
          <a:p>
            <a:r>
              <a:t>Source: doc/operator_walkthrough.md sections 1–2; doc/installation.md.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Double-click setup_desktop.bat. On a fresh install, Enter selects option 1:</a:t>
            </a:r>
          </a:p>
          <a:p>
            <a:r>
              <a:t>Install/use local Python in this checkout. Option 2 finds compatible installed</a:t>
            </a:r>
          </a:p>
          <a:p>
            <a:r>
              <a:t>Python versions; option 3 accepts a manual path. The supported interpreter is</a:t>
            </a:r>
          </a:p>
          <a:p>
            <a:r>
              <a:t>x64 CPython 3.12. On later runs, option 4 reuses the existing environment.</a:t>
            </a:r>
          </a:p>
          <a:p>
            <a:r>
              <a:t>Setup installs locked dependencies, provisions and tests actual OCR, and checks</a:t>
            </a:r>
          </a:p>
          <a:p>
            <a:r>
              <a:t>WebView2. Wait for Setup complete. If it fails, retain the exact error text.</a:t>
            </a:r>
          </a:p>
          <a:p>
            <a:r>
              <a:t>Do not move or delete .venv or .tools/python. Set up a fresh environment when</a:t>
            </a:r>
          </a:p>
          <a:p>
            <a:r>
              <a:t>moving to another computer. See doc/installation.md for troubleshooting.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screenshot shows the real app with capture stopped. The UI may display</a:t>
            </a:r>
          </a:p>
          <a:p>
            <a:r>
              <a:t>unknown or absent players until a live session observes them.</a:t>
            </a:r>
          </a:p>
          <a:p>
            <a:r>
              <a:t>Status &amp; configuration: source, score mode, health, names, accepted scores.</a:t>
            </a:r>
          </a:p>
          <a:p>
            <a:r>
              <a:t>OBS: connection, mapping, automation and manual scene switching.</a:t>
            </a:r>
          </a:p>
          <a:p>
            <a:r>
              <a:t>Renderer: repository path and launch controls.</a:t>
            </a:r>
          </a:p>
          <a:p>
            <a:r>
              <a:t>Results: screenshots, Discord, and recent results/recovery.</a:t>
            </a:r>
          </a:p>
          <a:p>
            <a:r>
              <a:t>Source: ddrcv/desktop/templates/index.html and static/desk.js.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Capture camera: Scan, choose the device, then check Camera index. Device indices</a:t>
            </a:r>
          </a:p>
          <a:p>
            <a:r>
              <a:t>can differ between computers. RTSP stream: enter the URL; frames must be 720p.</a:t>
            </a:r>
          </a:p>
          <a:p>
            <a:r>
              <a:t>Local video: Browse to the file, enabling Resize full 16:9 file to 720p if needed.</a:t>
            </a:r>
          </a:p>
          <a:p>
            <a:r>
              <a:t>Borders, cropped broadcasts, overlays, or stretching move the recognition regions.</a:t>
            </a:r>
          </a:p>
          <a:p>
            <a:r>
              <a:t>Still image diagnostics cannot establish temporal score or state confirmation.</a:t>
            </a:r>
          </a:p>
          <a:p>
            <a:r>
              <a:t>Leave publisher localhost:9000 for a single-computer setup. Run only one app,</a:t>
            </a:r>
          </a:p>
          <a:p>
            <a:r>
              <a:t>workbench, or CLI against that publisher port and Results outbox.</a:t>
            </a:r>
          </a:p>
          <a:p>
            <a:r>
              <a:t>Source: doc/operator_walkthrough.md section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 EX when the game shows the event EX score. Select Money for the ordinary</a:t>
            </a:r>
          </a:p>
          <a:p>
            <a:r>
              <a:t>score toward 1,000,000. Desktop defaults to EX; the browser workbench defaults</a:t>
            </a:r>
          </a:p>
          <a:p>
            <a:r>
              <a:t>to Money. A profile can override either, so always verify the selected mode.</a:t>
            </a:r>
          </a:p>
          <a:p>
            <a:r>
              <a:t>A wrong score mode may reject otherwise valid score reads and uses the wrong</a:t>
            </a:r>
          </a:p>
          <a:p>
            <a:r>
              <a:t>results crop. Leave Custom filter to the profile maintainer.</a:t>
            </a:r>
          </a:p>
          <a:p>
            <a:r>
              <a:t>Money results do not declare an EX winner.</a:t>
            </a:r>
          </a:p>
          <a:p>
            <a:r>
              <a:t>Source: driver_config.py; doc/results_publishing.md, confirmation/mode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screenshot is a stopped UI for orientation, not proof of a running capture.</a:t>
            </a:r>
          </a:p>
          <a:p>
            <a:r>
              <a:t>During your test, look for Running, healthy capture, a confirmed state following</a:t>
            </a:r>
          </a:p>
          <a:p>
            <a:r>
              <a:t>the game, and recent accepted reads that agree with the machine.</a:t>
            </a:r>
          </a:p>
          <a:p>
            <a:r>
              <a:t>View stream fetches one snapshot. Refresh frame fetches the next; it is not a</a:t>
            </a:r>
          </a:p>
          <a:p>
            <a:r>
              <a:t>continuous preview. Starting mid-song can lack player-presence evidence.</a:t>
            </a:r>
          </a:p>
          <a:p>
            <a:r>
              <a:t>The final score, including a full-combo ending, must be compared with the machine.</a:t>
            </a:r>
          </a:p>
          <a:p>
            <a:r>
              <a:t>A briefly delayed confirmed state is expected because recognition needs multiple</a:t>
            </a:r>
          </a:p>
          <a:p>
            <a:r>
              <a:t>observations. Source: operator_walkthrough.md section 4; tournament_desktop.md.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Obtain the separate ddr_score_render repository and assets from the organizer.</a:t>
            </a:r>
          </a:p>
          <a:p>
            <a:r>
              <a:t>Select its folder with Browse; the folder must contain apps/tbd5.py.</a:t>
            </a:r>
          </a:p>
          <a:p>
            <a:r>
              <a:t>Set Launch on Start if desired. Apply configuration while stopped, then Start.</a:t>
            </a:r>
          </a:p>
          <a:p>
            <a:r>
              <a:t>If already running, Apply and Restart resets tracking, so use it between songs.</a:t>
            </a:r>
          </a:p>
          <a:p>
            <a:r>
              <a:t>With automatic launch off, use Launch renderer after starting capture.</a:t>
            </a:r>
          </a:p>
          <a:p>
            <a:r>
              <a:t>Check the actual window, then capture it in OBS. Publisher clients or a running</a:t>
            </a:r>
          </a:p>
          <a:p>
            <a:r>
              <a:t>process alone do not establish visible output. Buttons use the applied path/port.</a:t>
            </a:r>
          </a:p>
          <a:p>
            <a:r>
              <a:t>Source: doc/operator_walkthrough.md section 5; tournament_integrations.py.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Enable OBS's WebSocket server. Enter the host, port and password into DDRCV;</a:t>
            </a:r>
          </a:p>
          <a:p>
            <a:r>
              <a:t>usual same-computer settings are localhost and 4455. Check Connect on Start.</a:t>
            </a:r>
          </a:p>
          <a:p>
            <a:r>
              <a:t>Keep Enable scene automation on Start off for the initial rehearsal.</a:t>
            </a:r>
          </a:p>
          <a:p>
            <a:r>
              <a:t>Edit the JSON map, retaining quotes and commas. Apply configuration and Start;</a:t>
            </a:r>
          </a:p>
          <a:p>
            <a:r>
              <a:t>Connect if necessary, then Check scenes. Enable automation after validation.</a:t>
            </a:r>
          </a:p>
          <a:p>
            <a:r>
              <a:t>song_select, login and total_result default to Commentator; song_splash,</a:t>
            </a:r>
          </a:p>
          <a:p>
            <a:r>
              <a:t>song_playing and song_result default to Gameplay. Null/omitted mappings hold;</a:t>
            </a:r>
          </a:p>
          <a:p>
            <a:r>
              <a:t>unknown always holds. No scenes are created by DDRCV.</a:t>
            </a:r>
          </a:p>
          <a:p>
            <a:r>
              <a:t>Source: doc/operator_walkthrough.md section 6; publish/obs_policy.py.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DDRCV's OBS tab, select an existing scene and use Switch scene &amp; pause</a:t>
            </a:r>
          </a:p>
          <a:p>
            <a:r>
              <a:t>automation. Resume with Enable automation; it reconciles to the latest</a:t>
            </a:r>
          </a:p>
          <a:p>
            <a:r>
              <a:t>confirmed state. If changing a scene directly in OBS, pause DDRCV automation</a:t>
            </a:r>
          </a:p>
          <a:p>
            <a:r>
              <a:t>first so it does not change the scene back. This does not stop recognition.</a:t>
            </a:r>
          </a:p>
          <a:p>
            <a:r>
              <a:t>After a successful rehearsal, choose whether automation should enable on Start,</a:t>
            </a:r>
          </a:p>
          <a:p>
            <a:r>
              <a:t>then apply and save the profile. Source: tournament_desktop.md and obs_policy.py.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profiles enable Capture results, but an existing saved off value is honored.</a:t>
            </a:r>
          </a:p>
          <a:p>
            <a:r>
              <a:t>Choose a writable screenshot folder. Default copies are under screenshots in</a:t>
            </a:r>
          </a:p>
          <a:p>
            <a:r>
              <a:t>the checkout. Durable originals and delivery records live in .workbench/results</a:t>
            </a:r>
          </a:p>
          <a:p>
            <a:r>
              <a:t>unless configured otherwise. Changing the screenshot folder does not move old files.</a:t>
            </a:r>
          </a:p>
          <a:p>
            <a:r>
              <a:t>Filenames use UTC time and a unique event suffix. Parsed names can be included</a:t>
            </a:r>
          </a:p>
          <a:p>
            <a:r>
              <a:t>only when recognized. Apply results settings does not restart capture, clear</a:t>
            </a:r>
          </a:p>
          <a:p>
            <a:r>
              <a:t>gameplay scores, or reconnect OBS/renderer. Save the JSON profile separately.</a:t>
            </a:r>
          </a:p>
          <a:p>
            <a:r>
              <a:t>Source: operator_walkthrough.md section 7; 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Ask the organizer/channel administrator for the intended results webhook. Enter</a:t>
            </a:r>
          </a:p>
          <a:p>
            <a:r>
              <a:t>it in Results. Test Discord Webhook uses the URL currently entered even when</a:t>
            </a:r>
          </a:p>
          <a:p>
            <a:r>
              <a:t>capture and automatic publishing are off. It does not apply pending settings</a:t>
            </a:r>
          </a:p>
          <a:p>
            <a:r>
              <a:t>or enable publishing. Verify the channel before enabling Publish results to Discord.</a:t>
            </a:r>
          </a:p>
          <a:p>
            <a:r>
              <a:t>Enabling publishing also checks Capture results. Click Apply results settings.</a:t>
            </a:r>
          </a:p>
          <a:p>
            <a:r>
              <a:t>Complete a test song, inspect Recent results &amp; recovery, then inspect Discord.</a:t>
            </a:r>
          </a:p>
          <a:p>
            <a:r>
              <a:t>During a local rehearsal leave publishing off, or use the organizer's test channel.</a:t>
            </a:r>
          </a:p>
          <a:p>
            <a:r>
              <a:t>Source: desktop/templates/index.html; operator_walkthrough.md section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Screenshots only and Read names on results apply immediately, without a general</a:t>
            </a:r>
          </a:p>
          <a:p>
            <a:r>
              <a:t>restart. Screenshots only skips both results score and name OCR. The detected</a:t>
            </a:r>
          </a:p>
          <a:p>
            <a:r>
              <a:t>results episode saves on departure or after its original ten-second deadline.</a:t>
            </a:r>
          </a:p>
          <a:p>
            <a:r>
              <a:t>Capture results must stay enabled; Discord must also be enabled for posts.</a:t>
            </a:r>
          </a:p>
          <a:p>
            <a:r>
              <a:t>With parsing enabled, confirmed scores can post before names; later confirmed</a:t>
            </a:r>
          </a:p>
          <a:p>
            <a:r>
              <a:t>names update the same message. With name parsing disabled, scores use P1/P2.</a:t>
            </a:r>
          </a:p>
          <a:p>
            <a:r>
              <a:t>The login/song splash name switch is separate and applies immediately.</a:t>
            </a:r>
          </a:p>
          <a:p>
            <a:r>
              <a:t>These switches do not correct saved results or recover an entirely missed screen.</a:t>
            </a:r>
          </a:p>
          <a:p>
            <a:r>
              <a:t>Source: results_publishing.md and tournament_desktop.md.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loads a profile into the form without starting capture. Save/Save as writes</a:t>
            </a:r>
          </a:p>
          <a:p>
            <a:r>
              <a:t>the form into a JSON profile without applying pending changes to the current run.</a:t>
            </a:r>
          </a:p>
          <a:p>
            <a:r>
              <a:t>Start uses the current form. Apply configuration works while stopped; Start runs it.</a:t>
            </a:r>
          </a:p>
          <a:p>
            <a:r>
              <a:t>Apply and Restart during a run confirms a reset of live score/state tracking.</a:t>
            </a:r>
          </a:p>
          <a:p>
            <a:r>
              <a:t>Use Results-only Apply for those controls; name and screenshot-only switches are</a:t>
            </a:r>
          </a:p>
          <a:p>
            <a:r>
              <a:t>immediate. Save a named profile after changing settings, even when the local draft</a:t>
            </a:r>
          </a:p>
          <a:p>
            <a:r>
              <a:t>is automatically retained. Profiles contain real secrets and absolute paths.</a:t>
            </a:r>
          </a:p>
          <a:p>
            <a:r>
              <a:t>Source: desktop/controller.py, static/desk.js; operator_walkthrough.md section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actual tournament computer, capture device, renderer and OBS scene</a:t>
            </a:r>
          </a:p>
          <a:p>
            <a:r>
              <a:t>collection. Observe select → splash → gameplay → song results → total results.</a:t>
            </a:r>
          </a:p>
          <a:p>
            <a:r>
              <a:t>Validate full-combo final scores, single-player presence and starting mid-song.</a:t>
            </a:r>
          </a:p>
          <a:p>
            <a:r>
              <a:t>Exercise capture reconnect, manual scene selection/resume, and window close/reopen.</a:t>
            </a:r>
          </a:p>
          <a:p>
            <a:r>
              <a:t>Check actual Results files and Discord messages, including recovery from delivery</a:t>
            </a:r>
          </a:p>
          <a:p>
            <a:r>
              <a:t>failure. If a results screen is never detected, automatic recovery has no episode.</a:t>
            </a:r>
          </a:p>
          <a:p>
            <a:r>
              <a:t>Preserve the event's recording or manual evidence procedure.</a:t>
            </a:r>
          </a:p>
          <a:p>
            <a:r>
              <a:t>Source: operator_walkthrough.md section 8; tournament_handoff.md section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the panel was closed but the backend remains active, reopening it does not</a:t>
            </a:r>
          </a:p>
          <a:p>
            <a:r>
              <a:t>create another recognition session. Fully exiting or a backend crash requires</a:t>
            </a:r>
          </a:p>
          <a:p>
            <a:r>
              <a:t>relaunch and an explicit Start. Profile restoration never starts capture itself.</a:t>
            </a:r>
          </a:p>
          <a:p>
            <a:r>
              <a:t>Verify mode and capture index every time hardware or computers change. A saved</a:t>
            </a:r>
          </a:p>
          <a:p>
            <a:r>
              <a:t>profile can restore automatic OBS/Discord actions; inspect it before Start.</a:t>
            </a:r>
          </a:p>
          <a:p>
            <a:r>
              <a:t>For problems, check fresh capture and accepted-read ages independently.</a:t>
            </a:r>
          </a:p>
          <a:p>
            <a:r>
              <a:t>Source: operator_reference.md, Start an event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Inspect the saved screenshot before sending. Send/retry requires capture Running,</a:t>
            </a:r>
          </a:p>
          <a:p>
            <a:r>
              <a:t>Capture results enabled, Discord publishing enabled, and a configured webhook.</a:t>
            </a:r>
          </a:p>
          <a:p>
            <a:r>
              <a:t>Saved: use Send saved result. Failed: fix the issue and Retry delivery.</a:t>
            </a:r>
          </a:p>
          <a:p>
            <a:r>
              <a:t>Queued/Sending/Retrying: wait and watch connectivity. Sent: Open Discord message.</a:t>
            </a:r>
          </a:p>
          <a:p>
            <a:r>
              <a:t>Retry name update edits the existing message after a failed name update.</a:t>
            </a:r>
          </a:p>
          <a:p>
            <a:r>
              <a:t>Republish under More recovery options confirms creation of another Discord post.</a:t>
            </a:r>
          </a:p>
          <a:p>
            <a:r>
              <a:t>Disabling publishing and applying pauses queued deliveries; in-flight sends may</a:t>
            </a:r>
          </a:p>
          <a:p>
            <a:r>
              <a:t>finish. Re-enabling resumes queued work. A completely missed screen cannot recover.</a:t>
            </a:r>
          </a:p>
          <a:p>
            <a:r>
              <a:t>Source: operator_reference.md, Results recovery; static/desk.js.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Preview is a requested still; Refresh frame updates it. Capture freshness and</a:t>
            </a:r>
          </a:p>
          <a:p>
            <a:r>
              <a:t>accepted-read age differ: frames can be fresh while score reads are rejected.</a:t>
            </a:r>
          </a:p>
          <a:p>
            <a:r>
              <a:t>Check complete 1280x720 framing, source, score mode, and read rejection reasons.</a:t>
            </a:r>
          </a:p>
          <a:p>
            <a:r>
              <a:t>If a wrongly high accepted score is stuck, use Reset P1/P2 tracking after checking</a:t>
            </a:r>
          </a:p>
          <a:p>
            <a:r>
              <a:t>the input. It clears only that live score and does not edit saved results.</a:t>
            </a:r>
          </a:p>
          <a:p>
            <a:r>
              <a:t>A camera switch tests the new source before replacing the old; success resets</a:t>
            </a:r>
          </a:p>
          <a:p>
            <a:r>
              <a:t>tracking. If a driver cannot open both, Stop/Start the new source between songs.</a:t>
            </a:r>
          </a:p>
          <a:p>
            <a:r>
              <a:t>Port/outbox conflicts: stop the other desktop/workbench/CLI; a closed panel can</a:t>
            </a:r>
          </a:p>
          <a:p>
            <a:r>
              <a:t>still own the session. See operator_reference.md for the full troubleshooting 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Window close/Alt+F4 closes the disposable UI, while the backend keeps capture,</a:t>
            </a:r>
          </a:p>
          <a:p>
            <a:r>
              <a:t>publishing, automation and owned renderer active. Open panel from the tray or</a:t>
            </a:r>
          </a:p>
          <a:p>
            <a:r>
              <a:t>relaunch the VBS to reopen without resetting scores. Exit application confirms</a:t>
            </a:r>
          </a:p>
          <a:p>
            <a:r>
              <a:t>stopping the backend and its owned renderer; OBS itself remains open.</a:t>
            </a:r>
          </a:p>
          <a:p>
            <a:r>
              <a:t>At session end inspect unresolved deliveries, save intended profile changes,</a:t>
            </a:r>
          </a:p>
          <a:p>
            <a:r>
              <a:t>then exit. Keep the screenshot copies and .workbench/results outbox for evidence.</a:t>
            </a:r>
          </a:p>
          <a:p>
            <a:r>
              <a:t>Desktop settings/logs: %LOCALAPPDATA%/DDRCV/tournament. For updates fully exit,</a:t>
            </a:r>
          </a:p>
          <a:p>
            <a:r>
              <a:t>update source, rerun setup using option 4 for a compatible environment, and rehearse.</a:t>
            </a:r>
          </a:p>
          <a:p>
            <a:r>
              <a:t>Source: operator_reference.md, Files and shutdown; tournament_desktop.md.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Fill the event setup table in doc/operator_walkthrough.md before handover.</a:t>
            </a:r>
          </a:p>
          <a:p>
            <a:r>
              <a:t>Include DDRCV folder/version, saved JSON path, source device/index/resolution,</a:t>
            </a:r>
          </a:p>
          <a:p>
            <a:r>
              <a:t>EX/Money, renderer folder, OBS scene collection/mapping, screenshot folder,</a:t>
            </a:r>
          </a:p>
          <a:p>
            <a:r>
              <a:t>Discord channel/contact and manual evidence procedure.</a:t>
            </a:r>
          </a:p>
          <a:p>
            <a:r>
              <a:t>Do not write webhook tokens or passwords into this presentation; saved JSON</a:t>
            </a:r>
          </a:p>
          <a:p>
            <a:r>
              <a:t>profiles contain actual credentials despite masked UI fields. Share them only</a:t>
            </a:r>
          </a:p>
          <a:p>
            <a:r>
              <a:t>with authorized operators. Verify absolute paths and camera index on each computer.</a:t>
            </a:r>
          </a:p>
          <a:p>
            <a:r>
              <a:t>Further reading: doc/operator_walkthrough.md, doc/operator_reference.md,</a:t>
            </a:r>
          </a:p>
          <a:p>
            <a:r>
              <a:t>doc/installation.md, doc/tournament_handoff.md, doc/results_publishing.md.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OPERATOR GUIDE / WINDOWS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DDRCV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00200"/>
            <a:ext cx="7498079" cy="124053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4758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3F6FA"/>
                </a:solidFill>
                <a:latin typeface="Segoe UI"/>
              </a:defRPr>
            </a:pPr>
            <a:r>
              <a:t>From first install</a:t>
            </a:r>
          </a:p>
          <a:p>
            <a:pPr>
              <a:lnSpc>
                <a:spcPts val="4758"/>
              </a:lnSpc>
              <a:spcBef>
                <a:spcPts val="0"/>
              </a:spcBef>
              <a:spcAft>
                <a:spcPts val="0"/>
              </a:spcAft>
              <a:defRPr sz="3900" b="1">
                <a:solidFill>
                  <a:srgbClr val="F3F6FA"/>
                </a:solidFill>
                <a:latin typeface="Segoe UI"/>
              </a:defRPr>
            </a:pPr>
            <a:r>
              <a:t>to tournament operation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6072" y="3136392"/>
            <a:ext cx="9875520" cy="38836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B5C2D2"/>
                </a:solidFill>
                <a:latin typeface="Segoe UI"/>
              </a:defRPr>
            </a:pPr>
            <a:r>
              <a:t>Setup walkthrough + event-day reference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3538728" cy="143560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206240"/>
            <a:ext cx="594360" cy="43484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85DFBD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19" y="4270248"/>
            <a:ext cx="246888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3BFFF"/>
                </a:solidFill>
                <a:latin typeface="Segoe UI"/>
              </a:defRPr>
            </a:pPr>
            <a:r>
              <a:t>SET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782312"/>
            <a:ext cx="317296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Install and select your source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4069080"/>
            <a:ext cx="3538728" cy="143560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9704" y="4206240"/>
            <a:ext cx="594360" cy="43484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85DFBD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4270248"/>
            <a:ext cx="246888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3BFFF"/>
                </a:solidFill>
                <a:latin typeface="Segoe UI"/>
              </a:defRPr>
            </a:pPr>
            <a:r>
              <a:t>REHEARSE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07992" y="4782312"/>
            <a:ext cx="317296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Verify scores and integrations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01583" y="4069080"/>
            <a:ext cx="3538728" cy="143560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66175" y="4206240"/>
            <a:ext cx="594360" cy="434847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172"/>
              </a:lnSpc>
              <a:spcBef>
                <a:spcPts val="0"/>
              </a:spcBef>
              <a:spcAft>
                <a:spcPts val="0"/>
              </a:spcAft>
              <a:defRPr sz="2600" b="1">
                <a:solidFill>
                  <a:srgbClr val="85DFBD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70263" y="4270248"/>
            <a:ext cx="246888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83BFFF"/>
                </a:solidFill>
                <a:latin typeface="Segoe UI"/>
              </a:defRPr>
            </a:pPr>
            <a:r>
              <a:t>OPERATE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84463" y="4782312"/>
            <a:ext cx="3172968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Save, recover, and hand 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" y="5971032"/>
            <a:ext cx="10789920" cy="23342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B5C2D2"/>
                </a:solidFill>
                <a:latin typeface="Segoe UI"/>
              </a:defRPr>
            </a:pPr>
            <a:r>
              <a:t>Desktop workflow • 18 September 2026 • Speaker notes included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6455664"/>
            <a:ext cx="528174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Operator guide / Windows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01 / 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01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What connects to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Start with recognition. Add the integrations your event uses.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94560"/>
            <a:ext cx="2926080" cy="1865376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41148" cy="186537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377440"/>
            <a:ext cx="2505456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Game feed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14319"/>
            <a:ext cx="2505456" cy="62077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Capture device or RTSP</a:t>
            </a:r>
          </a:p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Full 1280 × 720 frame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8456" y="2752344"/>
            <a:ext cx="457200" cy="46583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3B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1104" y="2194560"/>
            <a:ext cx="3017520" cy="1865376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61104" y="2194560"/>
            <a:ext cx="41148" cy="1865376"/>
          </a:xfrm>
          <a:prstGeom prst="rect">
            <a:avLst/>
          </a:prstGeom>
          <a:solidFill>
            <a:srgbClr val="85D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71416" y="2377440"/>
            <a:ext cx="2596896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DDRCV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71416" y="2814319"/>
            <a:ext cx="2596896" cy="62077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Recognize state</a:t>
            </a:r>
          </a:p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Read and publish scores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70648" y="2752344"/>
            <a:ext cx="457200" cy="46583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415"/>
              </a:lnSpc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83BFFF"/>
                </a:solidFill>
                <a:latin typeface="Segoe UI"/>
              </a:defRPr>
            </a:pPr>
            <a: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56448" y="1874519"/>
            <a:ext cx="3483864" cy="1645920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6448" y="1874519"/>
            <a:ext cx="41148" cy="1645920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66760" y="2057400"/>
            <a:ext cx="3063240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Score display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494280"/>
            <a:ext cx="306324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ddr_score_render → OBS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56448" y="3703320"/>
            <a:ext cx="3483864" cy="1645920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56448" y="3703320"/>
            <a:ext cx="41148" cy="1645920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3886200"/>
            <a:ext cx="3063240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Results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4323080"/>
            <a:ext cx="3063240" cy="58978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Local screenshots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Optional Discord delivery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5DFBD"/>
                </a:solidFill>
                <a:latin typeface="Segoe UI"/>
              </a:defRPr>
            </a:pPr>
            <a:r>
              <a:t>FIRST MILESTONE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A clean picture and accepted scores that match the machine.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8640" y="6455664"/>
            <a:ext cx="1056349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01 / Setup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01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Before you start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Prepare the station and the event’s files.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65960"/>
            <a:ext cx="5394960" cy="3337560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41148" cy="3337560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4974336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Required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85719"/>
            <a:ext cx="4974336" cy="139547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64-bit Windows + first-install internet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DDRCV ZIP / checkout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Full game feed at 1280 × 720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Or a full-frame rehearsal recording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965960"/>
            <a:ext cx="5477256" cy="3337560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1965960"/>
            <a:ext cx="41148" cy="3337560"/>
          </a:xfrm>
          <a:prstGeom prst="rect">
            <a:avLst/>
          </a:prstGeom>
          <a:solidFill>
            <a:srgbClr val="85D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148840"/>
            <a:ext cx="505663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If your event uses them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585719"/>
            <a:ext cx="5056632" cy="139547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Saved event JSON profile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OBS scene collection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ddr_score_render folder + assets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Discord channel webhook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5DFBD"/>
                </a:solidFill>
                <a:latin typeface="Segoe UI"/>
              </a:defRPr>
            </a:pPr>
            <a:r>
              <a:t>FOLDER EXAMPLE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C:\Games\ddrcv — extract the ZIP completely before running setup.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6455664"/>
            <a:ext cx="1584524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01 /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01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Install once, then use the launcher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No preinstalled Python is required.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20240"/>
            <a:ext cx="11091672" cy="71323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39112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1 Extract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039112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Open the folder containing setup_desktop.bat.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61488"/>
            <a:ext cx="11091672" cy="71323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2 Run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880360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Double-click setup_desktop.bat; choose option 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602736"/>
            <a:ext cx="11091672" cy="71323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721608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3 Wait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721608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Leave the console open until “Setup complete”.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443984"/>
            <a:ext cx="11091672" cy="71323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62856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4 Launch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562856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Double-click launch_desktop.vbs.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5DFBD"/>
                </a:solidFill>
                <a:latin typeface="Segoe UI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The desktop panel opens. Capture stays stopped until you click Start.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2112699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01 / Setup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01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Find the four areas of the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Start, Stop, Apply, and profile controls remain available across tabs.</a:t>
            </a:r>
          </a:p>
        </p:txBody>
      </p:sp>
      <p:pic>
        <p:nvPicPr>
          <p:cNvPr id="5" name="Picture 4" descr="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3664"/>
            <a:ext cx="4826000" cy="4343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6309360"/>
            <a:ext cx="6528816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Current app • isolated, stopped session • example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1775" y="1947672"/>
            <a:ext cx="4251960" cy="35737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3BFFF"/>
                </a:solidFill>
                <a:latin typeface="Segoe UI"/>
              </a:defRPr>
            </a:pPr>
            <a:r>
              <a:t>Status &amp; configuration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51775" y="2313432"/>
            <a:ext cx="42519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Choose the feed and inspect live reads.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51775" y="2935224"/>
            <a:ext cx="4251960" cy="35737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3BFFF"/>
                </a:solidFill>
                <a:latin typeface="Segoe UI"/>
              </a:defRPr>
            </a:pPr>
            <a:r>
              <a:t>OBS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51775" y="3300984"/>
            <a:ext cx="42519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Connect scenes and control automation.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775" y="3922776"/>
            <a:ext cx="4251960" cy="35737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3BFFF"/>
                </a:solidFill>
                <a:latin typeface="Segoe UI"/>
              </a:defRPr>
            </a:pPr>
            <a:r>
              <a:t>Renderer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775" y="4288536"/>
            <a:ext cx="42519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Launch the separate score display.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51775" y="4910328"/>
            <a:ext cx="4251960" cy="35737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3BFFF"/>
                </a:solidFill>
                <a:latin typeface="Segoe UI"/>
              </a:defRPr>
            </a:pPr>
            <a:r>
              <a:t>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51775" y="5276088"/>
            <a:ext cx="42519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Save screenshots, post, and recover.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6455664"/>
            <a:ext cx="2640874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01 / Setup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01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Choose a clean 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Status &amp; configuration → Source</a:t>
            </a:r>
          </a:p>
        </p:txBody>
      </p:sp>
      <p:pic>
        <p:nvPicPr>
          <p:cNvPr id="5" name="Picture 4" descr="sour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19"/>
            <a:ext cx="9216397" cy="2770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27448"/>
            <a:ext cx="11091672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Current app • isolated, stopped session • example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010912"/>
            <a:ext cx="3383280" cy="23342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3BFFF"/>
                </a:solidFill>
                <a:latin typeface="Segoe UI"/>
              </a:defRPr>
            </a:pPr>
            <a:r>
              <a:t>LIVE CAMERA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94376"/>
            <a:ext cx="3383280" cy="62077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Scan → select device</a:t>
            </a:r>
          </a:p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Check Camera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5010912"/>
            <a:ext cx="3337560" cy="23342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3BFFF"/>
                </a:solidFill>
                <a:latin typeface="Segoe UI"/>
              </a:defRPr>
            </a:pPr>
            <a:r>
              <a:t>RTSP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5294376"/>
            <a:ext cx="3337560" cy="62077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Enter Stream URL</a:t>
            </a:r>
          </a:p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Require 1280 × 720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5010912"/>
            <a:ext cx="3529584" cy="23342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586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83BFFF"/>
                </a:solidFill>
                <a:latin typeface="Segoe UI"/>
              </a:defRPr>
            </a:pPr>
            <a:r>
              <a:t>RECORDING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5294376"/>
            <a:ext cx="3529584" cy="62077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Browse to Local video</a:t>
            </a:r>
          </a:p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Resize only full 16:9 files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3169049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01 /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01 / SETUP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Match the score mode to the game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This setting affects gameplay filtering and results interpretation.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75104"/>
            <a:ext cx="5394960" cy="3300984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75104"/>
            <a:ext cx="41148" cy="3300984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57984"/>
            <a:ext cx="4974336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EX score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94864"/>
            <a:ext cx="4974336" cy="11475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3F6FA"/>
                </a:solidFill>
                <a:latin typeface="Segoe UI"/>
              </a:defRPr>
            </a:pPr>
            <a:r>
              <a:t>For the event’s EX scoring.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3F6FA"/>
                </a:solidFill>
                <a:latin typeface="Segoe UI"/>
              </a:defRPr>
            </a:pPr>
            <a:r>
              <a:t>Desktop default.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3F6FA"/>
                </a:solidFill>
                <a:latin typeface="Segoe UI"/>
              </a:defRPr>
            </a:pPr>
            <a:r>
              <a:t>Verify with an actual song.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975104"/>
            <a:ext cx="5477256" cy="3300984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1975104"/>
            <a:ext cx="41148" cy="3300984"/>
          </a:xfrm>
          <a:prstGeom prst="rect">
            <a:avLst/>
          </a:prstGeom>
          <a:solidFill>
            <a:srgbClr val="85D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157984"/>
            <a:ext cx="505663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Money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594864"/>
            <a:ext cx="5056632" cy="11475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3F6FA"/>
                </a:solidFill>
                <a:latin typeface="Segoe UI"/>
              </a:defRPr>
            </a:pPr>
            <a:r>
              <a:t>For the score toward 1,000,000.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3F6FA"/>
                </a:solidFill>
                <a:latin typeface="Segoe UI"/>
              </a:defRPr>
            </a:pPr>
            <a:r>
              <a:t>Browser workbench default.</a:t>
            </a:r>
          </a:p>
          <a:p>
            <a:pPr>
              <a:lnSpc>
                <a:spcPts val="2928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3F6FA"/>
                </a:solidFill>
                <a:latin typeface="Segoe UI"/>
              </a:defRPr>
            </a:pPr>
            <a:r>
              <a:t>Verify after switching apps.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CA85"/>
                </a:solidFill>
                <a:latin typeface="Segoe UI"/>
              </a:defRPr>
            </a:pPr>
            <a:r>
              <a:t>REMEMBER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An old profile may select a different mode. Check before pressing Start.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6455664"/>
            <a:ext cx="3697224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01 / Setup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02 / REHEARSAL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Prove recognition before adding integrations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Click Start, then observe a complete song from its splash.</a:t>
            </a:r>
          </a:p>
        </p:txBody>
      </p:sp>
      <p:pic>
        <p:nvPicPr>
          <p:cNvPr id="5" name="Picture 4" descr="stat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19"/>
            <a:ext cx="7856265" cy="2743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700016"/>
            <a:ext cx="11091672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Current app • isolated, stopped session • example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92040"/>
            <a:ext cx="3520440" cy="35737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5DFBD"/>
                </a:solidFill>
                <a:latin typeface="Segoe UI"/>
              </a:defRPr>
            </a:pPr>
            <a:r>
              <a:t>1 Picture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40096"/>
            <a:ext cx="3520440" cy="58978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View stream → Refresh frame.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Check full, clean framing.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892040"/>
            <a:ext cx="3520440" cy="35737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5DFBD"/>
                </a:solidFill>
                <a:latin typeface="Segoe UI"/>
              </a:defRPr>
            </a:pPr>
            <a:r>
              <a:t>2 State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5340096"/>
            <a:ext cx="3520440" cy="86868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Song splash → gameplay →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results.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Confirmed state follows the game.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4892040"/>
            <a:ext cx="3520440" cy="35737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5DFBD"/>
                </a:solidFill>
                <a:latin typeface="Segoe UI"/>
              </a:defRPr>
            </a:pPr>
            <a:r>
              <a:t>3 Scores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5340096"/>
            <a:ext cx="3520440" cy="86868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Compare accepted reads and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ages.</a:t>
            </a:r>
          </a:p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Verify the final score too.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4225398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02 / Rehearsal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02 / REHEARSAL · 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Add the score renderer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Renderer → select repository → apply → start or launch</a:t>
            </a:r>
          </a:p>
        </p:txBody>
      </p:sp>
      <p:pic>
        <p:nvPicPr>
          <p:cNvPr id="5" name="Picture 4" descr="render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74519"/>
            <a:ext cx="10497128" cy="215798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114800"/>
            <a:ext cx="11091672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Current app • isolated, stopped session • example paths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370832"/>
            <a:ext cx="3547872" cy="1271016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370832"/>
            <a:ext cx="41148" cy="12710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4553712"/>
            <a:ext cx="3127248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Choose the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990592"/>
            <a:ext cx="3127248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6FA"/>
                </a:solidFill>
                <a:latin typeface="Segoe UI"/>
              </a:defRPr>
            </a:pPr>
            <a:r>
              <a:t>Separate ddr_score_render repo.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5112" y="4370832"/>
            <a:ext cx="3547872" cy="1271016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5112" y="4370832"/>
            <a:ext cx="41148" cy="12710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4553712"/>
            <a:ext cx="3127248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Apply the path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4990592"/>
            <a:ext cx="3127248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6FA"/>
                </a:solidFill>
                <a:latin typeface="Segoe UI"/>
              </a:defRPr>
            </a:pPr>
            <a:r>
              <a:t>Then Start / Launch renderer.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01583" y="4370832"/>
            <a:ext cx="3538728" cy="1271016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01583" y="4370832"/>
            <a:ext cx="41148" cy="1271016"/>
          </a:xfrm>
          <a:prstGeom prst="rect">
            <a:avLst/>
          </a:prstGeom>
          <a:solidFill>
            <a:srgbClr val="85D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1896" y="4553712"/>
            <a:ext cx="3118104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Inspect the window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1896" y="4990592"/>
            <a:ext cx="3118104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6FA"/>
                </a:solidFill>
                <a:latin typeface="Segoe UI"/>
              </a:defRPr>
            </a:pPr>
            <a:r>
              <a:t>Compare scores; capture in OBS.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5DFBD"/>
                </a:solidFill>
                <a:latin typeface="Segoe UI"/>
              </a:defRPr>
            </a:pPr>
            <a:r>
              <a:t>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Visible scores agree with DDRCV’s accepted scores.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6455664"/>
            <a:ext cx="4753573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02 / Rehearsal · optional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02 / REHEARSAL · 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Connect OBS before enabling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Use exact scene names that already exist in the event’s OBS collection.</a:t>
            </a:r>
          </a:p>
        </p:txBody>
      </p:sp>
      <p:pic>
        <p:nvPicPr>
          <p:cNvPr id="5" name="Picture 4" descr="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47088"/>
            <a:ext cx="6565392" cy="2970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900088"/>
            <a:ext cx="6565392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Current app • isolated, stopped session • example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42631" y="1984248"/>
            <a:ext cx="427939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1 Enter connection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2631" y="2688336"/>
            <a:ext cx="4206240" cy="62077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Host, port, password.</a:t>
            </a:r>
          </a:p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Apply settings before Connect.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2631" y="3557016"/>
            <a:ext cx="427939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2 Check the mapping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42631" y="3995928"/>
            <a:ext cx="4206240" cy="62077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Use exact scene names.</a:t>
            </a:r>
          </a:p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Click Check scenes.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42631" y="4837176"/>
            <a:ext cx="427939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3 Enable automation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42631" y="5294376"/>
            <a:ext cx="4206240" cy="62077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Watch the actual OBS scene</a:t>
            </a:r>
          </a:p>
          <a:p>
            <a:pPr>
              <a:lnSpc>
                <a:spcPts val="2318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F3F6FA"/>
                </a:solidFill>
                <a:latin typeface="Segoe UI"/>
              </a:defRPr>
            </a:pPr>
            <a:r>
              <a:t>through a complete song.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5281748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02 / Rehearsal · 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02 / REHEARSAL · 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Practice manual OBS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Know how to pause automation before the event needs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84831"/>
            <a:ext cx="5394960" cy="3008376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84831"/>
            <a:ext cx="41148" cy="300837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67712"/>
            <a:ext cx="4974336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Take manual control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704591"/>
            <a:ext cx="4974336" cy="1457451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Choose a scene.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Click “Switch scene &amp; pause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automation”.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Verify the scene in OBS.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2084831"/>
            <a:ext cx="5477256" cy="3008376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2084831"/>
            <a:ext cx="41148" cy="3008376"/>
          </a:xfrm>
          <a:prstGeom prst="rect">
            <a:avLst/>
          </a:prstGeom>
          <a:solidFill>
            <a:srgbClr val="85D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267712"/>
            <a:ext cx="505663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Resume automatic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704591"/>
            <a:ext cx="5056632" cy="1101089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Click “Enable automation”.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Verify the scene matches the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confirmed game state.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CA85"/>
                </a:solidFill>
                <a:latin typeface="Segoe UI"/>
              </a:defRPr>
            </a:pPr>
            <a:r>
              <a:t>DIRECT OBS EDIT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Pause DDRCV automation before changing a scene inside OBS.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6455664"/>
            <a:ext cx="5809923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02 / Rehearsal · optional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02 / REHEARSAL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Save results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Results → Capture results → Screenshot folder → Apply results settings</a:t>
            </a:r>
          </a:p>
        </p:txBody>
      </p:sp>
      <p:pic>
        <p:nvPicPr>
          <p:cNvPr id="5" name="Picture 4" descr="results-cap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37943"/>
            <a:ext cx="7726679" cy="39112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5831472"/>
            <a:ext cx="7726679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Current app • isolated, stopped session • example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1352" y="2029968"/>
            <a:ext cx="309067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Capture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1352" y="2496312"/>
            <a:ext cx="3090672" cy="65176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6FA"/>
                </a:solidFill>
                <a:latin typeface="Segoe UI"/>
              </a:defRPr>
            </a:pPr>
            <a:r>
              <a:t>Check it even when using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6FA"/>
                </a:solidFill>
                <a:latin typeface="Segoe UI"/>
              </a:defRPr>
            </a:pPr>
            <a:r>
              <a:t>an existing profile.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1352" y="3529584"/>
            <a:ext cx="309067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Screenshot folder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1352" y="3986784"/>
            <a:ext cx="3090672" cy="65176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6FA"/>
                </a:solidFill>
                <a:latin typeface="Segoe UI"/>
              </a:defRPr>
            </a:pPr>
            <a:r>
              <a:t>Choose a writable place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6FA"/>
                </a:solidFill>
                <a:latin typeface="Segoe UI"/>
              </a:defRPr>
            </a:pPr>
            <a:r>
              <a:t>you can find later.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1352" y="5020056"/>
            <a:ext cx="3090672" cy="35737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85DFBD"/>
                </a:solidFill>
                <a:latin typeface="Segoe UI"/>
              </a:defRPr>
            </a:pPr>
            <a:r>
              <a:t>Apply results settings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1352" y="5696712"/>
            <a:ext cx="309067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Keeps gameplay scores.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6338098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02 / Rehearsal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02 / REHEARSAL · OPTIONAL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Test Discord, then enable automatic posts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A webhook test sends a real message to the selected channel.</a:t>
            </a:r>
          </a:p>
        </p:txBody>
      </p:sp>
      <p:pic>
        <p:nvPicPr>
          <p:cNvPr id="5" name="Picture 4" descr="disco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83664"/>
            <a:ext cx="9677521" cy="22494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48640" y="4215383"/>
            <a:ext cx="11091672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Current app • isolated, stopped session • example paths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17136"/>
            <a:ext cx="350215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1 Enter +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65776"/>
            <a:ext cx="3502152" cy="65176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6FA"/>
                </a:solidFill>
                <a:latin typeface="Segoe UI"/>
              </a:defRPr>
            </a:pPr>
            <a:r>
              <a:t>Webhook URL → Test Discord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6FA"/>
                </a:solidFill>
                <a:latin typeface="Segoe UI"/>
              </a:defRPr>
            </a:pPr>
            <a:r>
              <a:t>Webhook.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4517136"/>
            <a:ext cx="350215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2 Verify channel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5065776"/>
            <a:ext cx="3502152" cy="34188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6FA"/>
                </a:solidFill>
                <a:latin typeface="Segoe UI"/>
              </a:defRPr>
            </a:pPr>
            <a:r>
              <a:t>Find the actual test message.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01583" y="4517136"/>
            <a:ext cx="350215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3 Enable + apply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01583" y="5065776"/>
            <a:ext cx="3502152" cy="65176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6FA"/>
                </a:solidFill>
                <a:latin typeface="Segoe UI"/>
              </a:defRPr>
            </a:pPr>
            <a:r>
              <a:t>Publish results to Discord →</a:t>
            </a:r>
          </a:p>
          <a:p>
            <a:pPr>
              <a:lnSpc>
                <a:spcPts val="244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3F6FA"/>
                </a:solidFill>
                <a:latin typeface="Segoe UI"/>
              </a:defRPr>
            </a:pPr>
            <a:r>
              <a:t>Apply results settings.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6455664"/>
            <a:ext cx="6866273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02 / Rehearsal · optional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02 / REHEARSAL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Choose how much results text to 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These choices preserve live gameplay scoring.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56816"/>
            <a:ext cx="11091672" cy="877824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75688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Scores + names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075688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Screenshots only OFF; Read names on results 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017520"/>
            <a:ext cx="11091672" cy="877824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136391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Scores + P1/P2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3136391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Screenshots only OFF; Read names on results OFF.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078224"/>
            <a:ext cx="11091672" cy="877824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197096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5DFBD"/>
                </a:solidFill>
                <a:latin typeface="Segoe UI"/>
              </a:defRPr>
            </a:pPr>
            <a:r>
              <a:t>Screenshot evidence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4197096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Screenshots only ON. Save on departure or after 10 seconds.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888736"/>
            <a:ext cx="1490472" cy="40386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5DFBD"/>
                </a:solidFill>
                <a:latin typeface="Segoe UI"/>
              </a:defRPr>
            </a:pPr>
            <a:r>
              <a:t>SEPARATE</a:t>
            </a:r>
          </a:p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5DFBD"/>
                </a:solidFill>
                <a:latin typeface="Segoe UI"/>
              </a:defRPr>
            </a:pPr>
            <a:r>
              <a:t>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Live-session names use “Read names on login/song splash”.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6455664"/>
            <a:ext cx="7394448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02 / Rehearsal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02 / REHEARSAL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Save a profile and understand Apply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The form, running session, and saved file can contain different settings.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56816"/>
            <a:ext cx="3547872" cy="341071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56816"/>
            <a:ext cx="41148" cy="3410712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39696"/>
            <a:ext cx="3127248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Save / Save as…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76576"/>
            <a:ext cx="3127248" cy="173634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Write the current form to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a named JSON profile.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Running settings stay as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they were.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956816"/>
            <a:ext cx="3547872" cy="341071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956816"/>
            <a:ext cx="41148" cy="3410712"/>
          </a:xfrm>
          <a:prstGeom prst="rect">
            <a:avLst/>
          </a:prstGeom>
          <a:solidFill>
            <a:srgbClr val="85D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2139696"/>
            <a:ext cx="3127248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Start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35424" y="2576576"/>
            <a:ext cx="3127248" cy="173634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Start recognition using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the current form settings.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Use after opening the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event profile.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3" y="1956816"/>
            <a:ext cx="3538728" cy="341071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956816"/>
            <a:ext cx="41148" cy="3410712"/>
          </a:xfrm>
          <a:prstGeom prst="rect">
            <a:avLst/>
          </a:prstGeom>
          <a:solidFill>
            <a:srgbClr val="F4C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11896" y="2139696"/>
            <a:ext cx="3118104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CA85"/>
                </a:solidFill>
                <a:latin typeface="Segoe UI"/>
              </a:defRPr>
            </a:pPr>
            <a:r>
              <a:t>Apply and Restart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1896" y="2576576"/>
            <a:ext cx="3118104" cy="1736343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Apply pending changes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during a run.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Resets live score</a:t>
            </a:r>
          </a:p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0">
                <a:solidFill>
                  <a:srgbClr val="F3F6FA"/>
                </a:solidFill>
                <a:latin typeface="Segoe UI"/>
              </a:defRPr>
            </a:pPr>
            <a:r>
              <a:t>tracking.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CA85"/>
                </a:solidFill>
                <a:latin typeface="Segoe UI"/>
              </a:defRPr>
            </a:pPr>
            <a:r>
              <a:t>BETWEEN SONGS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Use the full Apply and Restart for source/mode/integration changes.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7922622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02 / Rehearsal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02 / REHEARSAL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Finish with a real event rehearsal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Installation checks do not establish tournament readiness.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47672"/>
            <a:ext cx="11091672" cy="70408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66543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Game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066543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Selection → splash → gameplay → results.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61488"/>
            <a:ext cx="11091672" cy="70408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Score accuracy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880360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Two players, one player, and a full-combo ending.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575304"/>
            <a:ext cx="11091672" cy="70408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694176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Connections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694176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Capture reconnect; manual OBS scene and resume.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389120"/>
            <a:ext cx="11091672" cy="70408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507992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507992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Screenshot files, Discord post, and recovery 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5DFBD"/>
                </a:solidFill>
                <a:latin typeface="Segoe UI"/>
              </a:defRPr>
            </a:pPr>
            <a:r>
              <a:t>READY WHEN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Another operator can repeat startup and recovery using the saved profile.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8450797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02 / Rehearsal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03 / EVENT-DAY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Start the station in five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Keep this slide available beside the event profile.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2807"/>
            <a:ext cx="11091672" cy="65836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79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1 Connect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11880" y="2011679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Capture device ready; OBS open if used.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11091672" cy="65836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70632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2 Launch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770632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launch_desktop.vbs → Open… event profile if needed.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410712"/>
            <a:ext cx="11091672" cy="65836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529584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3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3529584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Source, EX/Money, Results, and integration settings.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69663"/>
            <a:ext cx="11091672" cy="65836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88536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4 Start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4288536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Running + healthy capture; inspect View stream.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28616"/>
            <a:ext cx="11091672" cy="65836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047488"/>
            <a:ext cx="2651760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83BFFF"/>
                </a:solidFill>
                <a:latin typeface="Segoe UI"/>
              </a:defRPr>
            </a:pPr>
            <a:r>
              <a:t>5 Confirm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1880" y="5047488"/>
            <a:ext cx="7845552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Accepted scores, actual score display, scenes, results post.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8978972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03 / Event-day reference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03 / EVENT-DAY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Recover a saved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Results → Recent results &amp; recovery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2807"/>
            <a:ext cx="11091672" cy="61264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79"/>
            <a:ext cx="3383280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3BFFF"/>
                </a:solidFill>
                <a:latin typeface="Segoe UI"/>
              </a:defRPr>
            </a:pPr>
            <a:r>
              <a:t>Saved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400" y="2011679"/>
            <a:ext cx="7114032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6FA"/>
                </a:solidFill>
                <a:latin typeface="Segoe UI"/>
              </a:defRPr>
            </a:pPr>
            <a:r>
              <a:t>Send saved result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596896"/>
            <a:ext cx="11091672" cy="61264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15768"/>
            <a:ext cx="3383280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3BFFF"/>
                </a:solidFill>
                <a:latin typeface="Segoe UI"/>
              </a:defRPr>
            </a:pPr>
            <a:r>
              <a:t>Queued / Sending / Retrying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715768"/>
            <a:ext cx="7114032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6FA"/>
                </a:solidFill>
                <a:latin typeface="Segoe UI"/>
              </a:defRPr>
            </a:pPr>
            <a:r>
              <a:t>Watch the status and connection.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00984"/>
            <a:ext cx="11091672" cy="61264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19856"/>
            <a:ext cx="3383280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3BFFF"/>
                </a:solidFill>
                <a:latin typeface="Segoe UI"/>
              </a:defRPr>
            </a:pPr>
            <a:r>
              <a:t>Failed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419856"/>
            <a:ext cx="7114032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6FA"/>
                </a:solidFill>
                <a:latin typeface="Segoe UI"/>
              </a:defRPr>
            </a:pPr>
            <a:r>
              <a:t>Fix the cause → Retry delivery.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005072"/>
            <a:ext cx="11091672" cy="61264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123944"/>
            <a:ext cx="3383280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3BFFF"/>
                </a:solidFill>
                <a:latin typeface="Segoe UI"/>
              </a:defRPr>
            </a:pPr>
            <a:r>
              <a:t>Sent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4123944"/>
            <a:ext cx="7114032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6FA"/>
                </a:solidFill>
                <a:latin typeface="Segoe UI"/>
              </a:defRPr>
            </a:pPr>
            <a:r>
              <a:t>Open Discord message; Retry name update if offered.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709160"/>
            <a:ext cx="11091672" cy="61264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828032"/>
            <a:ext cx="3383280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83BFFF"/>
                </a:solidFill>
                <a:latin typeface="Segoe UI"/>
              </a:defRPr>
            </a:pPr>
            <a:r>
              <a:t>Need another post?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4828032"/>
            <a:ext cx="7114032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3F6FA"/>
                </a:solidFill>
                <a:latin typeface="Segoe UI"/>
              </a:defRPr>
            </a:pPr>
            <a:r>
              <a:t>More recovery options → Republish creates a duplicate.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4CA85"/>
                </a:solidFill>
                <a:latin typeface="Segoe UI"/>
              </a:defRPr>
            </a:pPr>
            <a:r>
              <a:t>REQUIRED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Capture running + Capture results + Discord enabled + webhook.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6455664"/>
            <a:ext cx="9507147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03 / Event-day reference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03 / EVENT-DAY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When something looks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Check the failing part before restarting the whole session.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92807"/>
            <a:ext cx="11091672" cy="640080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79"/>
            <a:ext cx="3246120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3BFFF"/>
                </a:solidFill>
                <a:latin typeface="Segoe UI"/>
              </a:defRPr>
            </a:pPr>
            <a:r>
              <a:t>Frozen preview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2011679"/>
            <a:ext cx="7251192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3F6FA"/>
                </a:solidFill>
                <a:latin typeface="Segoe UI"/>
              </a:defRPr>
            </a:pPr>
            <a:r>
              <a:t>Refresh frame; check capture age and recent errors.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33472"/>
            <a:ext cx="11091672" cy="640080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752344"/>
            <a:ext cx="3246120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3BFFF"/>
                </a:solidFill>
                <a:latin typeface="Segoe UI"/>
              </a:defRPr>
            </a:pPr>
            <a:r>
              <a:t>Wrong or stuck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2752344"/>
            <a:ext cx="7251192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3F6FA"/>
                </a:solidFill>
                <a:latin typeface="Segoe UI"/>
              </a:defRPr>
            </a:pPr>
            <a:r>
              <a:t>Check framing + mode; inspect rejection details.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374136"/>
            <a:ext cx="11091672" cy="640080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3246120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3BFFF"/>
                </a:solidFill>
                <a:latin typeface="Segoe UI"/>
              </a:defRPr>
            </a:pPr>
            <a:r>
              <a:t>One bad accepted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3493008"/>
            <a:ext cx="7251192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3F6FA"/>
                </a:solidFill>
                <a:latin typeface="Segoe UI"/>
              </a:defRPr>
            </a:pPr>
            <a:r>
              <a:t>Read details &amp; recent errors → Reset P1/P2 tracking.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14800"/>
            <a:ext cx="11091672" cy="640080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233672"/>
            <a:ext cx="3246120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3BFFF"/>
                </a:solidFill>
                <a:latin typeface="Segoe UI"/>
              </a:defRPr>
            </a:pPr>
            <a:r>
              <a:t>Blank renderer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4233672"/>
            <a:ext cx="7251192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3F6FA"/>
                </a:solidFill>
                <a:latin typeface="Segoe UI"/>
              </a:defRPr>
            </a:pPr>
            <a:r>
              <a:t>Check publisher clients, path, status, and actual window.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855464"/>
            <a:ext cx="11091672" cy="640080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74336"/>
            <a:ext cx="3246120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3BFFF"/>
                </a:solidFill>
                <a:latin typeface="Segoe UI"/>
              </a:defRPr>
            </a:pPr>
            <a:r>
              <a:t>Wrong OBS scene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4974336"/>
            <a:ext cx="7251192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F3F6FA"/>
                </a:solidFill>
                <a:latin typeface="Segoe UI"/>
              </a:defRPr>
            </a:pPr>
            <a:r>
              <a:t>Check connection, scene names, and automation state.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907024"/>
            <a:ext cx="10881360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85DFBD"/>
                </a:solidFill>
                <a:latin typeface="Segoe UI"/>
              </a:defRPr>
            </a:pPr>
            <a:r>
              <a:t>Results text unreliable? Enable Screenshots only; gameplay scoring continues.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6455664"/>
            <a:ext cx="10035322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03 / Event-day reference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03 / EVENT-DAY 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Closing the panel keeps capture running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Use Exit application… when the station should actually stop.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011680"/>
            <a:ext cx="5394960" cy="299008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011680"/>
            <a:ext cx="41148" cy="2990088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94560"/>
            <a:ext cx="4974336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Close window / Alt+F4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631440"/>
            <a:ext cx="4974336" cy="1457451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Capture keeps running.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Reopen from the tray or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launch_desktop.vbs.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Live scores remain intact.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2011680"/>
            <a:ext cx="5477256" cy="2990088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2011680"/>
            <a:ext cx="41148" cy="2990088"/>
          </a:xfrm>
          <a:prstGeom prst="rect">
            <a:avLst/>
          </a:prstGeom>
          <a:solidFill>
            <a:srgbClr val="F4CA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194560"/>
            <a:ext cx="505663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F4CA85"/>
                </a:solidFill>
                <a:latin typeface="Segoe UI"/>
              </a:defRPr>
            </a:pPr>
            <a:r>
              <a:t>Exit application…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631440"/>
            <a:ext cx="5056632" cy="1457451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Stops the application after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confirmation.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OBS itself stays open.</a:t>
            </a:r>
          </a:p>
          <a:p>
            <a:pPr>
              <a:lnSpc>
                <a:spcPts val="2806"/>
              </a:lnSpc>
              <a:spcBef>
                <a:spcPts val="0"/>
              </a:spcBef>
              <a:spcAft>
                <a:spcPts val="0"/>
              </a:spcAft>
              <a:defRPr sz="2300" b="0">
                <a:solidFill>
                  <a:srgbClr val="F3F6FA"/>
                </a:solidFill>
                <a:latin typeface="Segoe UI"/>
              </a:defRPr>
            </a:pPr>
            <a:r>
              <a:t>Next launch needs Start.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769864"/>
            <a:ext cx="11091672" cy="530352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5888736"/>
            <a:ext cx="1490472" cy="21793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464"/>
              </a:lnSpc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85DFBD"/>
                </a:solidFill>
                <a:latin typeface="Segoe UI"/>
              </a:defRPr>
            </a:pPr>
            <a:r>
              <a:t>BEFORE EXITING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67712" y="5875020"/>
            <a:ext cx="914400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3F6FA"/>
                </a:solidFill>
                <a:latin typeface="Segoe UI"/>
              </a:defRPr>
            </a:pPr>
            <a:r>
              <a:t>Check unresolved deliveries → save the profile → retain event evidence.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6455664"/>
            <a:ext cx="10563497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03 / Event-day reference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C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0789920" cy="20243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342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83BFFF"/>
                </a:solidFill>
                <a:latin typeface="Segoe UI"/>
              </a:defRPr>
            </a:pPr>
            <a:r>
              <a:t>03 / HANDOFF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49682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366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3F6FA"/>
                </a:solidFill>
                <a:latin typeface="Segoe UI"/>
              </a:defRPr>
            </a:pPr>
            <a:r>
              <a:t>Leave the next operator a complete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98448"/>
            <a:ext cx="11064240" cy="26441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830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B5C2D2"/>
                </a:solidFill>
                <a:latin typeface="Segoe UI"/>
              </a:defRPr>
            </a:pPr>
            <a:r>
              <a:t>Fill these in for the actual tournament computer.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938528"/>
            <a:ext cx="5394960" cy="2706624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38528"/>
            <a:ext cx="41148" cy="2706624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21408"/>
            <a:ext cx="4974336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3BFFF"/>
                </a:solidFill>
                <a:latin typeface="Segoe UI"/>
              </a:defRPr>
            </a:pPr>
            <a:r>
              <a:t>Station details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558288"/>
            <a:ext cx="4974336" cy="10081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6FA"/>
                </a:solidFill>
                <a:latin typeface="Segoe UI"/>
              </a:defRPr>
            </a:pPr>
            <a:r>
              <a:t>Profile path + DDRCV folder/version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6FA"/>
                </a:solidFill>
                <a:latin typeface="Segoe UI"/>
              </a:defRPr>
            </a:pPr>
            <a:r>
              <a:t>Capture device / index + score mode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6FA"/>
                </a:solidFill>
                <a:latin typeface="Segoe UI"/>
              </a:defRPr>
            </a:pPr>
            <a:r>
              <a:t>Renderer folder + OBS scenes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63056" y="1938528"/>
            <a:ext cx="5477256" cy="2706624"/>
          </a:xfrm>
          <a:prstGeom prst="rect">
            <a:avLst/>
          </a:prstGeom>
          <a:solidFill>
            <a:srgbClr val="222C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63056" y="1938528"/>
            <a:ext cx="41148" cy="2706624"/>
          </a:xfrm>
          <a:prstGeom prst="rect">
            <a:avLst/>
          </a:prstGeom>
          <a:solidFill>
            <a:srgbClr val="85DF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73368" y="2121408"/>
            <a:ext cx="5056632" cy="37287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684"/>
              </a:lnSpc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85DFBD"/>
                </a:solidFill>
                <a:latin typeface="Segoe UI"/>
              </a:defRPr>
            </a:pPr>
            <a:r>
              <a:t>Evidence and support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73368" y="2558288"/>
            <a:ext cx="5056632" cy="1008125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6FA"/>
                </a:solidFill>
                <a:latin typeface="Segoe UI"/>
              </a:defRPr>
            </a:pPr>
            <a:r>
              <a:t>Screenshot folder + Discord channel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6FA"/>
                </a:solidFill>
                <a:latin typeface="Segoe UI"/>
              </a:defRPr>
            </a:pPr>
            <a:r>
              <a:t>Technical contact</a:t>
            </a:r>
          </a:p>
          <a:p>
            <a:pPr>
              <a:lnSpc>
                <a:spcPts val="2562"/>
              </a:lnSpc>
              <a:spcBef>
                <a:spcPts val="0"/>
              </a:spcBef>
              <a:spcAft>
                <a:spcPts val="0"/>
              </a:spcAft>
              <a:defRPr sz="2100" b="0">
                <a:solidFill>
                  <a:srgbClr val="F3F6FA"/>
                </a:solidFill>
                <a:latin typeface="Segoe UI"/>
              </a:defRPr>
            </a:pPr>
            <a:r>
              <a:t>Recording / manual-results procedure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" y="4974336"/>
            <a:ext cx="3291840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3BFFF"/>
                </a:solidFill>
                <a:latin typeface="Segoe UI"/>
              </a:defRPr>
            </a:pPr>
            <a:r>
              <a:t>Full walkthrough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974336"/>
            <a:ext cx="7726679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doc/operator_walkthrough.md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5413248"/>
            <a:ext cx="3291840" cy="295402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074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83BFFF"/>
                </a:solidFill>
                <a:latin typeface="Segoe UI"/>
              </a:defRPr>
            </a:pPr>
            <a:r>
              <a:t>Quick reference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5413248"/>
            <a:ext cx="7726679" cy="310896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2196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3F6FA"/>
                </a:solidFill>
                <a:latin typeface="Segoe UI"/>
              </a:defRPr>
            </a:pPr>
            <a:r>
              <a:t>doc/operator_reference.md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" y="5961888"/>
            <a:ext cx="11018520" cy="279908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952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F4CA85"/>
                </a:solidFill>
                <a:latin typeface="Segoe UI"/>
              </a:defRPr>
            </a:pPr>
            <a:r>
              <a:t>Keep credential-bearing profiles private; verify paths on each computer.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6455664"/>
            <a:ext cx="11091672" cy="10972"/>
          </a:xfrm>
          <a:prstGeom prst="rect">
            <a:avLst/>
          </a:prstGeom>
          <a:solidFill>
            <a:srgbClr val="3C4C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6455664"/>
            <a:ext cx="11091672" cy="20116"/>
          </a:xfrm>
          <a:prstGeom prst="rect">
            <a:avLst/>
          </a:prstGeom>
          <a:solidFill>
            <a:srgbClr val="83B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6556248"/>
            <a:ext cx="9966960" cy="171450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098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B5C2D2"/>
                </a:solidFill>
                <a:latin typeface="Segoe UI"/>
              </a:defRPr>
            </a:pPr>
            <a:r>
              <a:t>DDRCV / 03 / Handoff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71632" y="6547104"/>
            <a:ext cx="868680" cy="186944"/>
          </a:xfrm>
          <a:prstGeom prst="rect">
            <a:avLst/>
          </a:prstGeom>
          <a:noFill/>
        </p:spPr>
        <p:txBody>
          <a:bodyPr wrap="none" tIns="0" bIns="0" lIns="0" rIns="0">
            <a:noAutofit/>
          </a:bodyPr>
          <a:lstStyle/>
          <a:p>
            <a:pPr>
              <a:lnSpc>
                <a:spcPts val="122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B5C2D2"/>
                </a:solidFill>
                <a:latin typeface="Segoe UI"/>
              </a:defRPr>
            </a:pPr>
            <a: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DDRCV — Setup and Operator Guide</dc:title>
  <dc:subject>Windows installation, rehearsal, and event operation</dc:subject>
  <dc:creator>DDRCV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