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organizer's approved ZIP or checkout. Extract completely to a writable</a:t>
            </a:r>
          </a:p>
          <a:p>
            <a:r>
              <a:t>folder such as C:/Games/ddrcv, outside Program Files. Setup option 1 installs local</a:t>
            </a:r>
          </a:p>
          <a:p>
            <a:r>
              <a:t>x64 CPython 3.12; no existing Python is required. Options 2/3 select a compatible</a:t>
            </a:r>
          </a:p>
          <a:p>
            <a:r>
              <a:t>existing interpreter. Option 4 reuses an environment on subsequent runs. Setup checks</a:t>
            </a:r>
          </a:p>
          <a:p>
            <a:r>
              <a:t>actual OCR and WebView2. Retain error text on failure. Keep .venv and .tools/python</a:t>
            </a:r>
          </a:p>
          <a:p>
            <a:r>
              <a:t>with the installation; run setup again on another computer. The renderer repository</a:t>
            </a:r>
          </a:p>
          <a:p>
            <a:r>
              <a:t>and its assets are separate. Source: doc/installation.md; operator_walkthrough.md §§1–2.</a:t>
            </a:r>
          </a:p>
          <a:p>
            <a:r>
              <a:t>Screenshots in this deck are real forms captured in an isolated stopped session with</a:t>
            </a:r>
          </a:p>
          <a:p>
            <a:r>
              <a:t>example paths, no credentials, and no hardware or external integrations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UI detail is intentionally limited to source and mode controls. Capture</a:t>
            </a:r>
          </a:p>
          <a:p>
            <a:r>
              <a:t>camera: Scan, select the device, verify index. Different computers can assign different</a:t>
            </a:r>
          </a:p>
          <a:p>
            <a:r>
              <a:t>indices. RTSP requires full 1280x720 frames. Local video may explicitly resize full</a:t>
            </a:r>
          </a:p>
          <a:p>
            <a:r>
              <a:t>16:9 footage. Cropped or overlaid broadcasts remain unsuitable. Still-image diagnostics</a:t>
            </a:r>
          </a:p>
          <a:p>
            <a:r>
              <a:t>cannot establish temporal confirmation. EX is the desktop default; browser workbench</a:t>
            </a:r>
          </a:p>
          <a:p>
            <a:r>
              <a:t>defaults to Money. An existing profile can override either. A wrong mode affects live</a:t>
            </a:r>
          </a:p>
          <a:p>
            <a:r>
              <a:t>filtering and results interpretation. Leave Custom filter to a maintainer. Keep default</a:t>
            </a:r>
          </a:p>
          <a:p>
            <a:r>
              <a:t>publisher localhost:9000 for one machine; only one recognition session may own that</a:t>
            </a:r>
          </a:p>
          <a:p>
            <a:r>
              <a:t>port/outbox. Source: operator_walkthrough.md §3; driver_config.py.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screenshots show the stopped UI as a control-location reference, not an</a:t>
            </a:r>
          </a:p>
          <a:p>
            <a:r>
              <a:t>observed live session. Start uses the current form. Watch Running and healthy capture.</a:t>
            </a:r>
          </a:p>
          <a:p>
            <a:r>
              <a:t>View stream fetches a single snapshot; Refresh frame fetches another. Fresh capture</a:t>
            </a:r>
          </a:p>
          <a:p>
            <a:r>
              <a:t>does not imply fresh accepted scores; inspect the accepted-read age independently.</a:t>
            </a:r>
          </a:p>
          <a:p>
            <a:r>
              <a:t>Beginning before song splash provides presence evidence. Brief state confirmation delays</a:t>
            </a:r>
          </a:p>
          <a:p>
            <a:r>
              <a:t>are normal. Compare final scores, including full-combo endings, against the machine.</a:t>
            </a:r>
          </a:p>
          <a:p>
            <a:r>
              <a:t>Use the separate browser workbench for pause, seek, slow playback, and diagnostic export.</a:t>
            </a:r>
          </a:p>
          <a:p>
            <a:r>
              <a:t>Source: operator_walkthrough.md §4; tournament_desktop.md; tournament_handoff.md.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integrations are optional. Renderer: obtain the separate ddr_score_render</a:t>
            </a:r>
          </a:p>
          <a:p>
            <a:r>
              <a:t>repository/assets, select its root (containing apps/tbd5.py), apply path, then Start or</a:t>
            </a:r>
          </a:p>
          <a:p>
            <a:r>
              <a:t>Launch renderer. The renderer's visible output must match accepted scores; a process</a:t>
            </a:r>
          </a:p>
          <a:p>
            <a:r>
              <a:t>or client count is insufficient. Capture the window in OBS. OBS: enable its WebSocket</a:t>
            </a:r>
          </a:p>
          <a:p>
            <a:r>
              <a:t>server, enter host/port/password (usually localhost:4455), apply, connect and Check scenes.</a:t>
            </a:r>
          </a:p>
          <a:p>
            <a:r>
              <a:t>Default map: song_select/login/total_result to Commentator; song_splash/song_playing/</a:t>
            </a:r>
          </a:p>
          <a:p>
            <a:r>
              <a:t>song_result to Gameplay. Use exact existing scene names; null/omitted states hold and</a:t>
            </a:r>
          </a:p>
          <a:p>
            <a:r>
              <a:t>unknown always holds. No scenes are created. Manual switching inside DDRCV pauses</a:t>
            </a:r>
          </a:p>
          <a:p>
            <a:r>
              <a:t>automation; Enable automation resumes. Pause automation before switching directly in</a:t>
            </a:r>
          </a:p>
          <a:p>
            <a:r>
              <a:t>OBS. Set automatic launch/connect only after rehearsal. Source: walkthrough §§5–6;</a:t>
            </a:r>
          </a:p>
          <a:p>
            <a:r>
              <a:t>tournament_integrations.py; publish/obs_policy.py.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Capture results defaults on for new profiles; a saved off setting is preserved.</a:t>
            </a:r>
          </a:p>
          <a:p>
            <a:r>
              <a:t>Choose a writable Screenshot folder. Default exported copies are in screenshots, while</a:t>
            </a:r>
          </a:p>
          <a:p>
            <a:r>
              <a:t>durable originals/history are in .workbench/results unless overridden. Filenames use UTC</a:t>
            </a:r>
          </a:p>
          <a:p>
            <a:r>
              <a:t>and a unique suffix. Include parsed names in filenames affects naming only. Screenshots</a:t>
            </a:r>
          </a:p>
          <a:p>
            <a:r>
              <a:t>only and Read names on results apply immediately; Apply results settings applies other</a:t>
            </a:r>
          </a:p>
          <a:p>
            <a:r>
              <a:t>Results controls without restarting gameplay or integrations. Saved results are unchanged.</a:t>
            </a:r>
          </a:p>
          <a:p>
            <a:r>
              <a:t>Parsed scores can post first and later names update the same message. Screenshots only</a:t>
            </a:r>
          </a:p>
          <a:p>
            <a:r>
              <a:t>saves a detected episode on departure or its original 10-second deadline and skips results</a:t>
            </a:r>
          </a:p>
          <a:p>
            <a:r>
              <a:t>score/name OCR; gameplay scoring continues. Money and screenshot-only results do not</a:t>
            </a:r>
          </a:p>
          <a:p>
            <a:r>
              <a:t>declare an EX winner. The separate login/song-splash names switch controls live names.</a:t>
            </a:r>
          </a:p>
          <a:p>
            <a:r>
              <a:t>Source: walkthrough §7; results_publishing.md; tournament_desktop.md.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Discord Webhook sends a real message using the entered URL, even when</a:t>
            </a:r>
          </a:p>
          <a:p>
            <a:r>
              <a:t>capture and publishing are off. It does not apply settings or enable publishing. Verify</a:t>
            </a:r>
          </a:p>
          <a:p>
            <a:r>
              <a:t>the intended channel. Publish results to Discord also checks Capture results; apply the</a:t>
            </a:r>
          </a:p>
          <a:p>
            <a:r>
              <a:t>Results controls. Retry/send needs Running capture, Capture results, Discord publishing,</a:t>
            </a:r>
          </a:p>
          <a:p>
            <a:r>
              <a:t>and a webhook. Inspect screenshots before sending. Queued/Sending/Retrying are ongoing;</a:t>
            </a:r>
          </a:p>
          <a:p>
            <a:r>
              <a:t>after failure fix the cause and Retry delivery. Retry name update edits the original</a:t>
            </a:r>
          </a:p>
          <a:p>
            <a:r>
              <a:t>message. Republish intentionally creates another post. Disabling publishing and applying</a:t>
            </a:r>
          </a:p>
          <a:p>
            <a:r>
              <a:t>pauses queues; an in-flight send may finish. Re-enabling resumes pending work. An entirely</a:t>
            </a:r>
          </a:p>
          <a:p>
            <a:r>
              <a:t>missed results screen cannot be recovered automatically. Source: operator_reference.md,</a:t>
            </a:r>
          </a:p>
          <a:p>
            <a:r>
              <a:t>Results recovery; desktop/static/desk.js; results_publishing.md.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loads a form without starting or replacing the active configuration. Save</a:t>
            </a:r>
          </a:p>
          <a:p>
            <a:r>
              <a:t>writes the form to a profile, including actual secrets/absolute paths, and does not apply</a:t>
            </a:r>
          </a:p>
          <a:p>
            <a:r>
              <a:t>pending edits. Start uses the current form. Apply configuration while stopped prepares</a:t>
            </a:r>
          </a:p>
          <a:p>
            <a:r>
              <a:t>it; Start runs it. Apply and Restart while running asks before resetting tracking.</a:t>
            </a:r>
          </a:p>
          <a:p>
            <a:r>
              <a:t>Results-only Apply preserves live gameplay and integrations. Name/screenshot-only toggles</a:t>
            </a:r>
          </a:p>
          <a:p>
            <a:r>
              <a:t>are immediate. Stop stops recognition and owned integrations but leaves the application</a:t>
            </a:r>
          </a:p>
          <a:p>
            <a:r>
              <a:t>available. Window close keeps the backend running; reopen from the tray or launcher.</a:t>
            </a:r>
          </a:p>
          <a:p>
            <a:r>
              <a:t>Exit application stops the backend and owned renderer; it does not close OBS itself.</a:t>
            </a:r>
          </a:p>
          <a:p>
            <a:r>
              <a:t>Source: operator_reference.md, Controls; desktop/controller.py and static/desk.js.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Rehearse on the actual event computer, capture device, renderer and scene</a:t>
            </a:r>
          </a:p>
          <a:p>
            <a:r>
              <a:t>collection. Observe selection, splash, gameplay, song results and total results. Check</a:t>
            </a:r>
          </a:p>
          <a:p>
            <a:r>
              <a:t>single-player presence, full-combo final score, capture reconnect and manual OBS/resume.</a:t>
            </a:r>
          </a:p>
          <a:p>
            <a:r>
              <a:t>Verify actual screenshot files and Discord delivery. Installation checks and these</a:t>
            </a:r>
          </a:p>
          <a:p>
            <a:r>
              <a:t>illustrative UI screenshots do not establish hardware readiness. Daily startup uses</a:t>
            </a:r>
          </a:p>
          <a:p>
            <a:r>
              <a:t>the saved profile, checks device/mode/integrations, then explicit Start. A reopened panel</a:t>
            </a:r>
          </a:p>
          <a:p>
            <a:r>
              <a:t>can already have a running backend; do not start a second app/CLI/workbench on its port.</a:t>
            </a:r>
          </a:p>
          <a:p>
            <a:r>
              <a:t>Source: walkthrough §8; operator_reference.md, Start an event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Diagnose capture freshness separately from accepted-score freshness. Stale capture:</a:t>
            </a:r>
          </a:p>
          <a:p>
            <a:r>
              <a:t>check connection, index/RTSP, native 720p, ownership and errors. Frozen requested preview</a:t>
            </a:r>
          </a:p>
          <a:p>
            <a:r>
              <a:t>alone requires Refresh frame. Starting mid-song can lack presence evidence until a splash.</a:t>
            </a:r>
          </a:p>
          <a:p>
            <a:r>
              <a:t>For a bad high accepted score first verify mode/input, then reset only that player's</a:t>
            </a:r>
          </a:p>
          <a:p>
            <a:r>
              <a:t>tracking under Read details &amp; recent errors. This cannot correct saved results. A camera</a:t>
            </a:r>
          </a:p>
          <a:p>
            <a:r>
              <a:t>handoff probes the new source before replacing the old; success resets tracking while</a:t>
            </a:r>
          </a:p>
          <a:p>
            <a:r>
              <a:t>preserving integrations/results. A failed probe retains the old feed. For hardware that</a:t>
            </a:r>
          </a:p>
          <a:p>
            <a:r>
              <a:t>cannot open both, Stop/Start between songs. Port/outbox conflicts require stopping the</a:t>
            </a:r>
          </a:p>
          <a:p>
            <a:r>
              <a:t>other session; closing its panel is insufficient. Screenshot export errors may leave</a:t>
            </a:r>
          </a:p>
          <a:p>
            <a:r>
              <a:t>internal evidence still available for Discord. Source: operator_reference.md.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 source folder/version, profile path, device/index/resolution, score mode,</a:t>
            </a:r>
          </a:p>
          <a:p>
            <a:r>
              <a:t>renderer path, OBS scene collection/mapping, screenshot folder, Discord channel owner,</a:t>
            </a:r>
          </a:p>
          <a:p>
            <a:r>
              <a:t>technical contact and manual evidence procedure. Fill the walkthrough's event table.</a:t>
            </a:r>
          </a:p>
          <a:p>
            <a:r>
              <a:t>Do not put passwords or webhook tokens in the deck. Profile JSON contains real secrets</a:t>
            </a:r>
          </a:p>
          <a:p>
            <a:r>
              <a:t>despite masking in the UI and saves absolute paths, which need checking on another PC.</a:t>
            </a:r>
          </a:p>
          <a:p>
            <a:r>
              <a:t>At shutdown inspect unresolved delivery, save intended changes, then Exit application.</a:t>
            </a:r>
          </a:p>
          <a:p>
            <a:r>
              <a:t>Keep screenshot exports and the durable outbox for evidence. Desktop logs/settings live</a:t>
            </a:r>
          </a:p>
          <a:p>
            <a:r>
              <a:t>in %LOCALAPPDATA%/DDRCV/tournament. Before updates fully exit, update source, rerun setup,</a:t>
            </a:r>
          </a:p>
          <a:p>
            <a:r>
              <a:t>reuse a compatible environment, and rehearse. Detailed references: operator_walkthrough.md,</a:t>
            </a:r>
          </a:p>
          <a:p>
            <a:r>
              <a:t>operator_reference.md, installation.md, tournament_handoff.md, results_publishing.md.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205CB0"/>
                </a:solidFill>
                <a:latin typeface="Segoe UI"/>
              </a:defRPr>
            </a:pPr>
            <a:r>
              <a:t>DDRCV / OPERATOR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7744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53647A"/>
                </a:solidFill>
                <a:latin typeface="Segoe UI"/>
              </a:defRPr>
            </a:pPr>
            <a:r>
              <a:t>SETUP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100023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172B46"/>
                </a:solidFill>
                <a:latin typeface="Segoe UI"/>
              </a:defRPr>
            </a:pPr>
            <a:r>
              <a:t>Install DDRCV and open the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167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53647A"/>
                </a:solidFill>
                <a:latin typeface="Segoe UI"/>
              </a:defRPr>
            </a:pPr>
            <a:r>
              <a:t>A Windows guide from first setup to event handoff.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7727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3647A"/>
                </a:solidFill>
                <a:latin typeface="Segoe UI"/>
              </a:defRPr>
            </a:pPr>
            <a:r>
              <a:t>DDRCV • Field manual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53647A"/>
                </a:solidFill>
                <a:latin typeface="Segoe UI"/>
              </a:defRPr>
            </a:pPr>
            <a:r>
              <a:t>01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27632"/>
            <a:ext cx="2772918" cy="777240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2498598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05CB0"/>
                </a:solidFill>
                <a:latin typeface="Segoe UI"/>
              </a:defRPr>
            </a:pPr>
            <a:r>
              <a:t>GAME 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93392"/>
            <a:ext cx="249859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1280 × 720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3562" y="1828800"/>
            <a:ext cx="274320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205C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8849" y="1627632"/>
            <a:ext cx="2772918" cy="777240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6009" y="1737360"/>
            <a:ext cx="2498598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05CB0"/>
                </a:solidFill>
                <a:latin typeface="Segoe UI"/>
              </a:defRPr>
            </a:pPr>
            <a:r>
              <a:t>DDRCV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6009" y="1993392"/>
            <a:ext cx="249859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Read state +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3771" y="1828800"/>
            <a:ext cx="274320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205CB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49059" y="1627632"/>
            <a:ext cx="4991252" cy="777240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6219" y="1737360"/>
            <a:ext cx="4716932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05CB0"/>
                </a:solidFill>
                <a:latin typeface="Segoe UI"/>
              </a:defRPr>
            </a:pPr>
            <a: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6219" y="1993392"/>
            <a:ext cx="4716932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Renderer / OBS • screenshots / Discord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697480"/>
            <a:ext cx="3272043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205CB0"/>
                </a:solidFill>
                <a:latin typeface="Segoe UI"/>
              </a:defRPr>
            </a:pPr>
            <a:r>
              <a:t>Before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63824"/>
            <a:ext cx="3272043" cy="98526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172B46"/>
                </a:solidFill>
                <a:latin typeface="Segoe UI"/>
              </a:defRPr>
            </a:pPr>
            <a:r>
              <a:t>64-bit Windows</a:t>
            </a:r>
          </a:p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172B46"/>
                </a:solidFill>
                <a:latin typeface="Segoe UI"/>
              </a:defRPr>
            </a:pPr>
            <a:r>
              <a:t>First-install internet</a:t>
            </a:r>
          </a:p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172B46"/>
                </a:solidFill>
                <a:latin typeface="Segoe UI"/>
              </a:defRPr>
            </a:pPr>
            <a:r>
              <a:t>Full, clean game feed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07408"/>
            <a:ext cx="3272043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53647A"/>
                </a:solidFill>
                <a:latin typeface="Segoe UI"/>
              </a:defRPr>
            </a:pPr>
            <a:r>
              <a:t>Optional: event profile,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53647A"/>
                </a:solidFill>
                <a:latin typeface="Segoe UI"/>
              </a:defRPr>
            </a:pPr>
            <a:r>
              <a:t>renderer, OBS, webhook.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6443" y="2660904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205CB0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4227" y="2660904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Extract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0379" y="2660904"/>
            <a:ext cx="56799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Put DDRCV in a writable folder, e.g. C:\Games\ddrcv.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6443" y="3291840"/>
            <a:ext cx="7453868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6443" y="3383280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205CB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4227" y="3383280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Set 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0379" y="3383280"/>
            <a:ext cx="56799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setup_desktop.bat → option 1 (local Python).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86443" y="4014216"/>
            <a:ext cx="7453868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86443" y="4105656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205CB0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4227" y="4105656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Wait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0379" y="4105656"/>
            <a:ext cx="56799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Continue after “Setup complete”.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6443" y="4736592"/>
            <a:ext cx="7453868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86443" y="4828032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205CB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4227" y="4828032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Launch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60379" y="4828032"/>
            <a:ext cx="56799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launch_desktop.vbs → the panel opens stopped.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797296"/>
            <a:ext cx="11091672" cy="49377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797296"/>
            <a:ext cx="38404" cy="493776"/>
          </a:xfrm>
          <a:prstGeom prst="rect">
            <a:avLst/>
          </a:prstGeom>
          <a:solidFill>
            <a:srgbClr val="246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46E5B"/>
                </a:solidFill>
                <a:latin typeface="Segoe UI"/>
              </a:defRPr>
            </a:pPr>
            <a:r>
              <a:t>SETUP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13432" y="5907024"/>
            <a:ext cx="917143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172B46"/>
                </a:solidFill>
                <a:latin typeface="Segoe UI"/>
              </a:defRPr>
            </a:pPr>
            <a:r>
              <a:t>No Python install needed beforehand. Wait for success before launching.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205CB0"/>
                </a:solidFill>
                <a:latin typeface="Segoe UI"/>
              </a:defRPr>
            </a:pPr>
            <a:r>
              <a:t>DDRCV / OPERATOR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7744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53647A"/>
                </a:solidFill>
                <a:latin typeface="Segoe UI"/>
              </a:defRPr>
            </a:pPr>
            <a:r>
              <a:t>SETUP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100023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172B46"/>
                </a:solidFill>
                <a:latin typeface="Segoe UI"/>
              </a:defRPr>
            </a:pPr>
            <a:r>
              <a:t>Select the feed and the score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167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53647A"/>
                </a:solidFill>
                <a:latin typeface="Segoe UI"/>
              </a:defRPr>
            </a:pPr>
            <a:r>
              <a:t>Status &amp; configuration → Source and Score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7727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3647A"/>
                </a:solidFill>
                <a:latin typeface="Segoe UI"/>
              </a:defRPr>
            </a:pPr>
            <a:r>
              <a:t>DDRCV • Field manual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53647A"/>
                </a:solidFill>
                <a:latin typeface="Segoe UI"/>
              </a:defRPr>
            </a:pPr>
            <a:r>
              <a:t>02 / 10</a:t>
            </a:r>
          </a:p>
        </p:txBody>
      </p:sp>
      <p:pic>
        <p:nvPicPr>
          <p:cNvPr id="10" name="Picture 9" descr="source-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7632"/>
            <a:ext cx="10757845" cy="1444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145536"/>
            <a:ext cx="11091672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53647A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11296"/>
            <a:ext cx="353263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205CB0"/>
                </a:solidFill>
                <a:latin typeface="Segoe UI"/>
              </a:defRPr>
            </a:pPr>
            <a:r>
              <a:t>Capture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532632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172B46"/>
                </a:solidFill>
                <a:latin typeface="Segoe UI"/>
              </a:defRPr>
            </a:pPr>
            <a:r>
              <a:t>Scan → select device.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172B46"/>
                </a:solidFill>
                <a:latin typeface="Segoe UI"/>
              </a:defRPr>
            </a:pPr>
            <a:r>
              <a:t>Verify Camera index.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8159" y="3511296"/>
            <a:ext cx="353263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205CB0"/>
                </a:solidFill>
                <a:latin typeface="Segoe UI"/>
              </a:defRPr>
            </a:pPr>
            <a:r>
              <a:t>RTSP 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8159" y="3904488"/>
            <a:ext cx="3532632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172B46"/>
                </a:solidFill>
                <a:latin typeface="Segoe UI"/>
              </a:defRPr>
            </a:pPr>
            <a:r>
              <a:t>Enter Stream URL.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172B46"/>
                </a:solidFill>
                <a:latin typeface="Segoe UI"/>
              </a:defRPr>
            </a:pPr>
            <a:r>
              <a:t>Feed must be 1280 × 720.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79" y="3511296"/>
            <a:ext cx="353263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205CB0"/>
                </a:solidFill>
                <a:latin typeface="Segoe UI"/>
              </a:defRPr>
            </a:pPr>
            <a:r>
              <a:t>Local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7679" y="3904488"/>
            <a:ext cx="3532632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172B46"/>
                </a:solidFill>
                <a:latin typeface="Segoe UI"/>
              </a:defRPr>
            </a:pPr>
            <a:r>
              <a:t>Browse to a recording.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172B46"/>
                </a:solidFill>
                <a:latin typeface="Segoe UI"/>
              </a:defRPr>
            </a:pPr>
            <a:r>
              <a:t>Resize only full 16:9 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08576"/>
            <a:ext cx="11091672" cy="8778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754880"/>
            <a:ext cx="457200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205CB0"/>
                </a:solidFill>
                <a:latin typeface="Segoe UI"/>
              </a:defRPr>
            </a:pPr>
            <a:r>
              <a:t>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727448"/>
            <a:ext cx="352226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Event EX scoring.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Desktop default.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4476" y="4754880"/>
            <a:ext cx="96012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205CB0"/>
                </a:solidFill>
                <a:latin typeface="Segoe UI"/>
              </a:defRPr>
            </a:pPr>
            <a:r>
              <a:t>MONEY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900" y="4727448"/>
            <a:ext cx="429310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Score toward 1,000,000.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Workbench default.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97296"/>
            <a:ext cx="11091672" cy="49377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97296"/>
            <a:ext cx="38404" cy="493776"/>
          </a:xfrm>
          <a:prstGeom prst="rect">
            <a:avLst/>
          </a:prstGeom>
          <a:solidFill>
            <a:srgbClr val="955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955215"/>
                </a:solidFill>
                <a:latin typeface="Segoe UI"/>
              </a:defRPr>
            </a:pPr>
            <a:r>
              <a:t>CHECK THE FEED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13432" y="5907024"/>
            <a:ext cx="917143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172B46"/>
                </a:solidFill>
                <a:latin typeface="Segoe UI"/>
              </a:defRPr>
            </a:pPr>
            <a:r>
              <a:t>No borders, cropping, overlays, or stretching. Check mode on every profile.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205CB0"/>
                </a:solidFill>
                <a:latin typeface="Segoe UI"/>
              </a:defRPr>
            </a:pPr>
            <a:r>
              <a:t>DDRCV / OPERATOR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7744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53647A"/>
                </a:solidFill>
                <a:latin typeface="Segoe UI"/>
              </a:defRPr>
            </a:pPr>
            <a:r>
              <a:t>FIRST RUN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100023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172B46"/>
                </a:solidFill>
                <a:latin typeface="Segoe UI"/>
              </a:defRPr>
            </a:pPr>
            <a:r>
              <a:t>Start, then verify picture, state, and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167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53647A"/>
                </a:solidFill>
                <a:latin typeface="Segoe UI"/>
              </a:defRPr>
            </a:pPr>
            <a:r>
              <a:t>Click Start → Running. Begin before the song splash for player presence.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7727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3647A"/>
                </a:solidFill>
                <a:latin typeface="Segoe UI"/>
              </a:defRPr>
            </a:pPr>
            <a:r>
              <a:t>DDRCV • Field manual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53647A"/>
                </a:solidFill>
                <a:latin typeface="Segoe UI"/>
              </a:defRPr>
            </a:pPr>
            <a:r>
              <a:t>03 / 10</a:t>
            </a:r>
          </a:p>
        </p:txBody>
      </p:sp>
      <p:pic>
        <p:nvPicPr>
          <p:cNvPr id="10" name="Picture 9" descr="score-rea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7632"/>
            <a:ext cx="11091672" cy="1690947"/>
          </a:xfrm>
          <a:prstGeom prst="rect">
            <a:avLst/>
          </a:prstGeom>
        </p:spPr>
      </p:pic>
      <p:pic>
        <p:nvPicPr>
          <p:cNvPr id="11" name="Picture 10" descr="frame-heal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37451"/>
            <a:ext cx="11091672" cy="7449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246422"/>
            <a:ext cx="11091672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53647A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11598"/>
            <a:ext cx="353263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205CB0"/>
                </a:solidFill>
                <a:latin typeface="Segoe UI"/>
              </a:defRPr>
            </a:pPr>
            <a:r>
              <a:t>1 Picture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04790"/>
            <a:ext cx="3532632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Refresh frame for a new picture.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Check capture 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8159" y="4511598"/>
            <a:ext cx="353263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205CB0"/>
                </a:solidFill>
                <a:latin typeface="Segoe UI"/>
              </a:defRPr>
            </a:pPr>
            <a:r>
              <a:t>2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8159" y="4904790"/>
            <a:ext cx="3532632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Splash → gameplay → results.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Confirmed state should follow.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7679" y="4511598"/>
            <a:ext cx="3532632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205CB0"/>
                </a:solidFill>
                <a:latin typeface="Segoe UI"/>
              </a:defRPr>
            </a:pPr>
            <a:r>
              <a:t>3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7679" y="4904790"/>
            <a:ext cx="3532632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Compare with the machine.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Check last-read 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97296"/>
            <a:ext cx="11091672" cy="49377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797296"/>
            <a:ext cx="38404" cy="493776"/>
          </a:xfrm>
          <a:prstGeom prst="rect">
            <a:avLst/>
          </a:prstGeom>
          <a:solidFill>
            <a:srgbClr val="246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46E5B"/>
                </a:solidFill>
                <a:latin typeface="Segoe UI"/>
              </a:defRPr>
            </a:pPr>
            <a: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3432" y="5907024"/>
            <a:ext cx="917143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172B46"/>
                </a:solidFill>
                <a:latin typeface="Segoe UI"/>
              </a:defRPr>
            </a:pPr>
            <a:r>
              <a:t>The picture is fresh and final scores agree, including a full-combo 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205CB0"/>
                </a:solidFill>
                <a:latin typeface="Segoe UI"/>
              </a:defRPr>
            </a:pPr>
            <a:r>
              <a:t>DDRCV / OPERATOR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7744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53647A"/>
                </a:solidFill>
                <a:latin typeface="Segoe UI"/>
              </a:defRPr>
            </a:pPr>
            <a:r>
              <a:t>OPTIONAL INTEGRATIONS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100023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172B46"/>
                </a:solidFill>
                <a:latin typeface="Segoe UI"/>
              </a:defRPr>
            </a:pPr>
            <a:r>
              <a:t>Connect the display and OBS scene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167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53647A"/>
                </a:solidFill>
                <a:latin typeface="Segoe UI"/>
              </a:defRPr>
            </a:pPr>
            <a:r>
              <a:t>Apply edited paths and connection settings before using their buttons.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7727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3647A"/>
                </a:solidFill>
                <a:latin typeface="Segoe UI"/>
              </a:defRPr>
            </a:pPr>
            <a:r>
              <a:t>DDRCV • Field manual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53647A"/>
                </a:solidFill>
                <a:latin typeface="Segoe UI"/>
              </a:defRPr>
            </a:pPr>
            <a:r>
              <a:t>04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27632"/>
            <a:ext cx="529894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92224"/>
            <a:ext cx="4969764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205CB0"/>
                </a:solidFill>
                <a:latin typeface="Segoe UI"/>
              </a:defRPr>
            </a:pPr>
            <a:r>
              <a:t>Score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94560"/>
            <a:ext cx="4969764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53647A"/>
                </a:solidFill>
                <a:latin typeface="Segoe UI"/>
              </a:defRPr>
            </a:pPr>
            <a:r>
              <a:t>Renderer tab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1364" y="1627632"/>
            <a:ext cx="529894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5" y="1792224"/>
            <a:ext cx="4969764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205CB0"/>
                </a:solidFill>
                <a:latin typeface="Segoe UI"/>
              </a:defRPr>
            </a:pPr>
            <a:r>
              <a:t>Scene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5" y="2194560"/>
            <a:ext cx="4969764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53647A"/>
                </a:solidFill>
                <a:latin typeface="Segoe UI"/>
              </a:defRPr>
            </a:pPr>
            <a:r>
              <a:t>OBS tab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560320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2583179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2560320"/>
            <a:ext cx="44668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Select the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2926079"/>
            <a:ext cx="4448555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Browse to the separate ddr_score_render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folder.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547872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570732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3547872"/>
            <a:ext cx="44668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Apply, then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3913632"/>
            <a:ext cx="4448555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Start, or use Launch renderer after capture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starts.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535424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55828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" y="4535424"/>
            <a:ext cx="44668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Check the actual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" y="4901184"/>
            <a:ext cx="4448555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Compare scores, then capture that window in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OBS.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05955" y="2560320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8251" y="2583179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2299" y="2560320"/>
            <a:ext cx="44668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Connect and 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2299" y="2926079"/>
            <a:ext cx="4448555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Enable OBS WebSocket. Enter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host/port/password; Apply → Connect.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5955" y="3547872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8251" y="3570732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2299" y="3547872"/>
            <a:ext cx="44668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Map existing scenes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2299" y="3913632"/>
            <a:ext cx="4448555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Use exact scene names → Check scenes →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Enable automation.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05955" y="4535424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8251" y="455828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2299" y="4535424"/>
            <a:ext cx="446684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Practice manual 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2299" y="4901184"/>
            <a:ext cx="4448555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Switch scene &amp; pause automation. Enable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automation resumes.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797296"/>
            <a:ext cx="11091672" cy="49377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797296"/>
            <a:ext cx="38404" cy="493776"/>
          </a:xfrm>
          <a:prstGeom prst="rect">
            <a:avLst/>
          </a:prstGeom>
          <a:solidFill>
            <a:srgbClr val="246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46E5B"/>
                </a:solidFill>
                <a:latin typeface="Segoe UI"/>
              </a:defRPr>
            </a:pPr>
            <a:r>
              <a:t>LIVE CHECK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5907024"/>
            <a:ext cx="917143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172B46"/>
                </a:solidFill>
                <a:latin typeface="Segoe UI"/>
              </a:defRPr>
            </a:pPr>
            <a:r>
              <a:t>Watch the renderer and OBS themselves; “connected” alone is not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205CB0"/>
                </a:solidFill>
                <a:latin typeface="Segoe UI"/>
              </a:defRPr>
            </a:pPr>
            <a:r>
              <a:t>DDRCV / OPERATOR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7744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53647A"/>
                </a:solidFill>
                <a:latin typeface="Segoe UI"/>
              </a:defRPr>
            </a:pPr>
            <a:r>
              <a:t>RESULTS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100023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172B46"/>
                </a:solidFill>
                <a:latin typeface="Segoe UI"/>
              </a:defRPr>
            </a:pPr>
            <a:r>
              <a:t>Choose the results evidence you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167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53647A"/>
                </a:solidFill>
                <a:latin typeface="Segoe UI"/>
              </a:defRPr>
            </a:pPr>
            <a:r>
              <a:t>Results → Capture results ON → choose a writable Screenshot folder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7727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3647A"/>
                </a:solidFill>
                <a:latin typeface="Segoe UI"/>
              </a:defRPr>
            </a:pPr>
            <a:r>
              <a:t>DDRCV • Field manual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53647A"/>
                </a:solidFill>
                <a:latin typeface="Segoe UI"/>
              </a:defRPr>
            </a:pPr>
            <a:r>
              <a:t>05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27632"/>
            <a:ext cx="11091672" cy="429768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46504"/>
            <a:ext cx="2534579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05CB0"/>
                </a:solidFill>
                <a:latin typeface="Segoe UI"/>
              </a:defRPr>
            </a:pPr>
            <a:r>
              <a:t>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5827" y="1746504"/>
            <a:ext cx="2090912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05CB0"/>
                </a:solidFill>
                <a:latin typeface="Segoe UI"/>
              </a:defRPr>
            </a:pPr>
            <a:r>
              <a:t>SCREENSHOTS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9620" y="1746504"/>
            <a:ext cx="2090912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05CB0"/>
                </a:solidFill>
                <a:latin typeface="Segoe UI"/>
              </a:defRPr>
            </a:pPr>
            <a:r>
              <a:t>READ 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3413" y="1746504"/>
            <a:ext cx="364374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05CB0"/>
                </a:solidFill>
                <a:latin typeface="Segoe UI"/>
              </a:defRPr>
            </a:pPr>
            <a: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5292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258568"/>
            <a:ext cx="2516291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Scores + names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5827" y="2258568"/>
            <a:ext cx="20726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172B46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9620" y="2258568"/>
            <a:ext cx="20726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172B46"/>
                </a:solidFill>
                <a:latin typeface="Segoe UI"/>
              </a:defRPr>
            </a:pPr>
            <a:r>
              <a:t>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3413" y="2258568"/>
            <a:ext cx="362545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Scores first; names can update later.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39312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44952"/>
            <a:ext cx="2516291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Scores + P1/P2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5827" y="3044952"/>
            <a:ext cx="20726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172B46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9620" y="3044952"/>
            <a:ext cx="20726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172B46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3413" y="3044952"/>
            <a:ext cx="362545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Keep scores without player-name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parsing.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25696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31336"/>
            <a:ext cx="2516291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Screenshot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5827" y="3831336"/>
            <a:ext cx="20726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172B46"/>
                </a:solidFill>
                <a:latin typeface="Segoe UI"/>
              </a:defRPr>
            </a:pPr>
            <a: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9620" y="3831336"/>
            <a:ext cx="20726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172B46"/>
                </a:solidFill>
                <a:latin typeface="Segoe UI"/>
              </a:defRPr>
            </a:pPr>
            <a:r>
              <a:t>Either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3413" y="3831336"/>
            <a:ext cx="362545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Save on results departure or after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10 seconds.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26864"/>
            <a:ext cx="5434919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205CB0"/>
                </a:solidFill>
                <a:latin typeface="Segoe UI"/>
              </a:defRPr>
            </a:pPr>
            <a:r>
              <a:t>Apply results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029200"/>
            <a:ext cx="5213085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172B46"/>
                </a:solidFill>
                <a:latin typeface="Segoe UI"/>
              </a:defRPr>
            </a:pPr>
            <a:r>
              <a:t>Applies Results controls without resetting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172B46"/>
                </a:solidFill>
                <a:latin typeface="Segoe UI"/>
              </a:defRPr>
            </a:pPr>
            <a:r>
              <a:t>gameplay scores.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7226" y="4626864"/>
            <a:ext cx="5213085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205CB0"/>
                </a:solidFill>
                <a:latin typeface="Segoe UI"/>
              </a:defRPr>
            </a:pPr>
            <a:r>
              <a:t>Immediate switches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7226" y="5029200"/>
            <a:ext cx="5213085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172B46"/>
                </a:solidFill>
                <a:latin typeface="Segoe UI"/>
              </a:defRPr>
            </a:pPr>
            <a:r>
              <a:t>Screenshots only and Read names on results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172B46"/>
                </a:solidFill>
                <a:latin typeface="Segoe UI"/>
              </a:defRPr>
            </a:pPr>
            <a:r>
              <a:t>apply as you toggle them.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797296"/>
            <a:ext cx="11091672" cy="49377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797296"/>
            <a:ext cx="38404" cy="493776"/>
          </a:xfrm>
          <a:prstGeom prst="rect">
            <a:avLst/>
          </a:prstGeom>
          <a:solidFill>
            <a:srgbClr val="955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955215"/>
                </a:solidFill>
                <a:latin typeface="Segoe UI"/>
              </a:defRPr>
            </a:pPr>
            <a:r>
              <a:t>LIMIT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13432" y="5907024"/>
            <a:ext cx="917143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172B46"/>
                </a:solidFill>
                <a:latin typeface="Segoe UI"/>
              </a:defRPr>
            </a:pPr>
            <a:r>
              <a:t>A completely missed results screen has no automatic screenshot to recover.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205CB0"/>
                </a:solidFill>
                <a:latin typeface="Segoe UI"/>
              </a:defRPr>
            </a:pPr>
            <a:r>
              <a:t>DDRCV / OPERATOR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7744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53647A"/>
                </a:solidFill>
                <a:latin typeface="Segoe UI"/>
              </a:defRPr>
            </a:pPr>
            <a:r>
              <a:t>DISCORD + RECOVERY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100023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172B46"/>
                </a:solidFill>
                <a:latin typeface="Segoe UI"/>
              </a:defRPr>
            </a:pPr>
            <a:r>
              <a:t>Verify the destination, then 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167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53647A"/>
                </a:solidFill>
                <a:latin typeface="Segoe UI"/>
              </a:defRPr>
            </a:pPr>
            <a:r>
              <a:t>Results → Webhook URL. A webhook test sends a real message.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7727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3647A"/>
                </a:solidFill>
                <a:latin typeface="Segoe UI"/>
              </a:defRPr>
            </a:pPr>
            <a:r>
              <a:t>DDRCV • Field manual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53647A"/>
                </a:solidFill>
                <a:latin typeface="Segoe UI"/>
              </a:defRPr>
            </a:pPr>
            <a:r>
              <a:t>06 / 10</a:t>
            </a:r>
          </a:p>
        </p:txBody>
      </p:sp>
      <p:pic>
        <p:nvPicPr>
          <p:cNvPr id="10" name="Picture 9" descr="discord-webh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7632"/>
            <a:ext cx="11091672" cy="945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2628480"/>
            <a:ext cx="11091672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53647A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39376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962236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2939376"/>
            <a:ext cx="5597499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Test the webhook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3305136"/>
            <a:ext cx="5579211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Click Test Discord Webhook; inspect the channel.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35488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858348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3835488"/>
            <a:ext cx="5597499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Enable automatic posts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4201248"/>
            <a:ext cx="5579211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Publish results to Discord → Apply results settings.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1600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475446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4731600"/>
            <a:ext cx="5597499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Verify one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5097360"/>
            <a:ext cx="5579211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Complete a song; inspect the screenshot and Discord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post.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9099" y="2939376"/>
            <a:ext cx="4671212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205CB0"/>
                </a:solidFill>
                <a:latin typeface="Segoe UI"/>
              </a:defRPr>
            </a:pPr>
            <a:r>
              <a:t>Recent results &amp;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9099" y="3497160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205CB0"/>
                </a:solidFill>
                <a:latin typeface="Segoe UI"/>
              </a:defRPr>
            </a:pPr>
            <a:r>
              <a:t>Saved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6963" y="3497160"/>
            <a:ext cx="34733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Send saved 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69099" y="3862920"/>
            <a:ext cx="467121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9099" y="3936072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205CB0"/>
                </a:solidFill>
                <a:latin typeface="Segoe UI"/>
              </a:defRPr>
            </a:pPr>
            <a:r>
              <a:t>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6963" y="3936072"/>
            <a:ext cx="34733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Wait; check connectivity.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69099" y="4301832"/>
            <a:ext cx="467121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9099" y="4374984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205CB0"/>
                </a:solidFill>
                <a:latin typeface="Segoe UI"/>
              </a:defRPr>
            </a:pPr>
            <a:r>
              <a:t>Failed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6963" y="4374984"/>
            <a:ext cx="34733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Fix → Retry delivery.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69099" y="4740744"/>
            <a:ext cx="467121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9099" y="4813896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205CB0"/>
                </a:solidFill>
                <a:latin typeface="Segoe UI"/>
              </a:defRPr>
            </a:pPr>
            <a:r>
              <a:t>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6963" y="4813896"/>
            <a:ext cx="34733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Open Discord message.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69099" y="5179656"/>
            <a:ext cx="467121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9099" y="5252808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205CB0"/>
                </a:solidFill>
                <a:latin typeface="Segoe UI"/>
              </a:defRPr>
            </a:pPr>
            <a:r>
              <a:t>Republish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6963" y="5252808"/>
            <a:ext cx="34733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Creates another post.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797296"/>
            <a:ext cx="11091672" cy="49377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797296"/>
            <a:ext cx="38404" cy="493776"/>
          </a:xfrm>
          <a:prstGeom prst="rect">
            <a:avLst/>
          </a:prstGeom>
          <a:solidFill>
            <a:srgbClr val="246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46E5B"/>
                </a:solidFill>
                <a:latin typeface="Segoe UI"/>
              </a:defRPr>
            </a:pPr>
            <a:r>
              <a:t>SEND / RETRY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13432" y="5907024"/>
            <a:ext cx="917143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172B46"/>
                </a:solidFill>
                <a:latin typeface="Segoe UI"/>
              </a:defRPr>
            </a:pPr>
            <a:r>
              <a:t>Needs running capture, Capture results, Discord publishing, and a webhook.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205CB0"/>
                </a:solidFill>
                <a:latin typeface="Segoe UI"/>
              </a:defRPr>
            </a:pPr>
            <a:r>
              <a:t>DDRCV / OPERATOR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7744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53647A"/>
                </a:solidFill>
                <a:latin typeface="Segoe UI"/>
              </a:defRPr>
            </a:pPr>
            <a:r>
              <a:t>CONTROLS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100023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172B46"/>
                </a:solidFill>
                <a:latin typeface="Segoe UI"/>
              </a:defRPr>
            </a:pPr>
            <a:r>
              <a:t>Know what applies, resets, or keeps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167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53647A"/>
                </a:solidFill>
                <a:latin typeface="Segoe UI"/>
              </a:defRPr>
            </a:pPr>
            <a:r>
              <a:t>The form, running session, and saved profile can contain different settings.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7727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3647A"/>
                </a:solidFill>
                <a:latin typeface="Segoe UI"/>
              </a:defRPr>
            </a:pPr>
            <a:r>
              <a:t>DDRCV • Field manual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53647A"/>
                </a:solidFill>
                <a:latin typeface="Segoe UI"/>
              </a:defRPr>
            </a:pPr>
            <a:r>
              <a:t>07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19072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Save / Save as…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3" y="1719072"/>
            <a:ext cx="742492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Write the form to a profile. Running settings stay unchanged.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9775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50008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3" y="2350008"/>
            <a:ext cx="742492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Run with the settings currently in the form.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10712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80944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Apply and Restart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3" y="2980944"/>
            <a:ext cx="742492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Apply pending edits; reset live score tracking. Use between songs.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4164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611879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Apply results 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8223" y="3611879"/>
            <a:ext cx="742492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Apply only Results controls; keep gameplay scores.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72584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242816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Close window / Alt+F4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8223" y="4242816"/>
            <a:ext cx="742492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Capture continues. Reopen from the tray or launcher.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03520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873751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Stop / Exit application…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8223" y="4873751"/>
            <a:ext cx="742492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Stop capture. Exit also closes the backend; OBS stays open.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797296"/>
            <a:ext cx="11091672" cy="49377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797296"/>
            <a:ext cx="38404" cy="493776"/>
          </a:xfrm>
          <a:prstGeom prst="rect">
            <a:avLst/>
          </a:prstGeom>
          <a:solidFill>
            <a:srgbClr val="246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46E5B"/>
                </a:solidFill>
                <a:latin typeface="Segoe UI"/>
              </a:defRPr>
            </a:pPr>
            <a:r>
              <a:t>WHILE STOPPED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13432" y="5907024"/>
            <a:ext cx="917143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172B46"/>
                </a:solidFill>
                <a:latin typeface="Segoe UI"/>
              </a:defRPr>
            </a:pPr>
            <a:r>
              <a:t>Apply configuration prepares settings; click Start to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205CB0"/>
                </a:solidFill>
                <a:latin typeface="Segoe UI"/>
              </a:defRPr>
            </a:pPr>
            <a:r>
              <a:t>DDRCV / OPERATOR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7744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53647A"/>
                </a:solidFill>
                <a:latin typeface="Segoe UI"/>
              </a:defRPr>
            </a:pPr>
            <a:r>
              <a:t>EVENT READINESS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100023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172B46"/>
                </a:solidFill>
                <a:latin typeface="Segoe UI"/>
              </a:defRPr>
            </a:pPr>
            <a:r>
              <a:t>Rehearse once; repeat the startup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167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53647A"/>
                </a:solidFill>
                <a:latin typeface="Segoe UI"/>
              </a:defRPr>
            </a:pPr>
            <a:r>
              <a:t>Use the actual tournament computer, capture device, renderer, and OBS collection.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7727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3647A"/>
                </a:solidFill>
                <a:latin typeface="Segoe UI"/>
              </a:defRPr>
            </a:pPr>
            <a:r>
              <a:t>DDRCV • Field manual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53647A"/>
                </a:solidFill>
                <a:latin typeface="Segoe UI"/>
              </a:defRPr>
            </a:pPr>
            <a:r>
              <a:t>08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27632"/>
            <a:ext cx="11091672" cy="502920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46504"/>
            <a:ext cx="1076248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205CB0"/>
                </a:solidFill>
                <a:latin typeface="Segoe UI"/>
              </a:defRPr>
            </a:pPr>
            <a:r>
              <a:t>Song selection → splash → gameplay → song results → total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14016"/>
            <a:ext cx="5289804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205CB0"/>
                </a:solidFill>
                <a:latin typeface="Segoe UI"/>
              </a:defRPr>
            </a:pPr>
            <a:r>
              <a:t>Before the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508" y="2414016"/>
            <a:ext cx="5289804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205CB0"/>
                </a:solidFill>
                <a:latin typeface="Segoe UI"/>
              </a:defRPr>
            </a:pPr>
            <a:r>
              <a:t>Every session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35224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295808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2935224"/>
            <a:ext cx="478688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3300984"/>
            <a:ext cx="4768596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Two players, one player, full-combo ending.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386334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3840480"/>
            <a:ext cx="478688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206240"/>
            <a:ext cx="4768596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Capture reconnect; manual OBS scene and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resume.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45736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4768596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4745736"/>
            <a:ext cx="478688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111496"/>
            <a:ext cx="4768596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Verify screenshot files and the actual Discord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post.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508" y="2935224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2804" y="295808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6852" y="2935224"/>
            <a:ext cx="478688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6852" y="3300984"/>
            <a:ext cx="4768596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Connect hardware → launch → open the event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profile.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508" y="3840480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2804" y="386334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840480"/>
            <a:ext cx="478688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4206240"/>
            <a:ext cx="4768596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Source/index, EX/Money, and integrations.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508" y="4745736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2804" y="4768596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6852" y="4745736"/>
            <a:ext cx="478688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6852" y="5111496"/>
            <a:ext cx="4768596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Check capture freshness, accepted scores, display,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and scenes.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97296"/>
            <a:ext cx="11091672" cy="49377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797296"/>
            <a:ext cx="38404" cy="493776"/>
          </a:xfrm>
          <a:prstGeom prst="rect">
            <a:avLst/>
          </a:prstGeom>
          <a:solidFill>
            <a:srgbClr val="246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46E5B"/>
                </a:solidFill>
                <a:latin typeface="Segoe UI"/>
              </a:defRPr>
            </a:pPr>
            <a:r>
              <a:t>HANDOFF 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13432" y="5907024"/>
            <a:ext cx="917143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172B46"/>
                </a:solidFill>
                <a:latin typeface="Segoe UI"/>
              </a:defRPr>
            </a:pPr>
            <a:r>
              <a:t>Another operator can start the station and recover a saved result unaided.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205CB0"/>
                </a:solidFill>
                <a:latin typeface="Segoe UI"/>
              </a:defRPr>
            </a:pPr>
            <a:r>
              <a:t>DDRCV / OPERATOR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7744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53647A"/>
                </a:solidFill>
                <a:latin typeface="Segoe UI"/>
              </a:defRPr>
            </a:pPr>
            <a:r>
              <a:t>TROUBLESHOOTING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100023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172B46"/>
                </a:solidFill>
                <a:latin typeface="Segoe UI"/>
              </a:defRPr>
            </a:pPr>
            <a:r>
              <a:t>Check the failing part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167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53647A"/>
                </a:solidFill>
                <a:latin typeface="Segoe UI"/>
              </a:defRPr>
            </a:pPr>
            <a:r>
              <a:t>Read details &amp; recent errors explains rejected reads and recent failures.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7727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3647A"/>
                </a:solidFill>
                <a:latin typeface="Segoe UI"/>
              </a:defRPr>
            </a:pPr>
            <a:r>
              <a:t>DDRCV • Field manual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53647A"/>
                </a:solidFill>
                <a:latin typeface="Segoe UI"/>
              </a:defRPr>
            </a:pPr>
            <a:r>
              <a:t>09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1907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No picture / stale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375" y="1719072"/>
            <a:ext cx="73517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Check cable, index/URL, 720p, and capture-device ownership.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6352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5915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Preview looks frozen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5" y="2359152"/>
            <a:ext cx="73517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Refresh frame. This preview is a requested snapshot.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56432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9923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Wrong / stuck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5" y="2999232"/>
            <a:ext cx="73517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Check framing + EX/Money; inspect rejected-read details.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96511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63931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One bad accepted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5" y="3639312"/>
            <a:ext cx="73517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Reset P1/P2 tracking clears that live score. Saved results stay.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36592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27939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Blank display / wrong scene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5" y="4279392"/>
            <a:ext cx="73517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Check renderer output, OBS scene names, and automation.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76672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91947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205CB0"/>
                </a:solidFill>
                <a:latin typeface="Segoe UI"/>
              </a:defRPr>
            </a:pPr>
            <a:r>
              <a:t>Port / outbox already in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1375" y="4919472"/>
            <a:ext cx="73517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Stop the other app/workbench/CLI; it may still be running.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797296"/>
            <a:ext cx="11091672" cy="49377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797296"/>
            <a:ext cx="38404" cy="493776"/>
          </a:xfrm>
          <a:prstGeom prst="rect">
            <a:avLst/>
          </a:prstGeom>
          <a:solidFill>
            <a:srgbClr val="246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46E5B"/>
                </a:solidFill>
                <a:latin typeface="Segoe UI"/>
              </a:defRPr>
            </a:pPr>
            <a:r>
              <a:t>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13432" y="5907024"/>
            <a:ext cx="917143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172B46"/>
                </a:solidFill>
                <a:latin typeface="Segoe UI"/>
              </a:defRPr>
            </a:pPr>
            <a:r>
              <a:t>Unreliable results text? Enable Screenshots only; gameplay scores continue.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205CB0"/>
                </a:solidFill>
                <a:latin typeface="Segoe UI"/>
              </a:defRPr>
            </a:pPr>
            <a:r>
              <a:t>DDRCV / OPERATOR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74320"/>
            <a:ext cx="2377440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53647A"/>
                </a:solidFill>
                <a:latin typeface="Segoe UI"/>
              </a:defRPr>
            </a:pPr>
            <a:r>
              <a:t>HANDOFF + SHUTDOWN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1000232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172B46"/>
                </a:solidFill>
                <a:latin typeface="Segoe UI"/>
              </a:defRPr>
            </a:pPr>
            <a:r>
              <a:t>Leave a usable profile and an evidence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167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53647A"/>
                </a:solidFill>
                <a:latin typeface="Segoe UI"/>
              </a:defRPr>
            </a:pPr>
            <a:r>
              <a:t>Fill the event setup table in the written walkthrough before handing 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77272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3647A"/>
                </a:solidFill>
                <a:latin typeface="Segoe UI"/>
              </a:defRPr>
            </a:pPr>
            <a:r>
              <a:t>DDRCV • Field manual •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53647A"/>
                </a:solidFill>
                <a:latin typeface="Segoe UI"/>
              </a:defRPr>
            </a:pPr>
            <a: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289804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205CB0"/>
                </a:solidFill>
                <a:latin typeface="Segoe UI"/>
              </a:defRPr>
            </a:pPr>
            <a:r>
              <a:t>Record for the next operator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67712"/>
            <a:ext cx="105156" cy="105156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203704"/>
            <a:ext cx="50154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Profile path + DDRCV folder/version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15768"/>
            <a:ext cx="105156" cy="105156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651760"/>
            <a:ext cx="50154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Capture device/index + EX/Money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63824"/>
            <a:ext cx="105156" cy="105156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099816"/>
            <a:ext cx="50154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Renderer folder + OBS scenes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11879"/>
            <a:ext cx="105156" cy="105156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547872"/>
            <a:ext cx="50154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Screenshot folder + Discord 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59936"/>
            <a:ext cx="105156" cy="105156"/>
          </a:xfrm>
          <a:prstGeom prst="rect">
            <a:avLst/>
          </a:prstGeom>
          <a:solidFill>
            <a:srgbClr val="20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95928"/>
            <a:ext cx="50154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172B46"/>
                </a:solidFill>
                <a:latin typeface="Segoe UI"/>
              </a:defRPr>
            </a:pPr>
            <a:r>
              <a:t>Technical contact + manual-results procedure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508" y="1627632"/>
            <a:ext cx="5289804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205CB0"/>
                </a:solidFill>
                <a:latin typeface="Segoe UI"/>
              </a:defRPr>
            </a:pPr>
            <a:r>
              <a:t>End the session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508" y="2185416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2804" y="2208276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6852" y="2185416"/>
            <a:ext cx="478688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Inspect deliveries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6852" y="2551176"/>
            <a:ext cx="4768596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Resolve failures or retain the queued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508" y="2990088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2804" y="3012948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6852" y="2990088"/>
            <a:ext cx="478688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Save intended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6852" y="3355848"/>
            <a:ext cx="4768596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Save the profile; keep credentials private.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508" y="3794760"/>
            <a:ext cx="310896" cy="31089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2804" y="381762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205CB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6852" y="3794760"/>
            <a:ext cx="4786884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72B46"/>
                </a:solidFill>
                <a:latin typeface="Segoe UI"/>
              </a:defRPr>
            </a:pPr>
            <a:r>
              <a:t>Exit application…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6852" y="4160520"/>
            <a:ext cx="4768596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Keep screenshots and the Results outbox.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64608"/>
            <a:ext cx="11091672" cy="10972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20056"/>
            <a:ext cx="146304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05CB0"/>
                </a:solidFill>
                <a:latin typeface="Segoe UI"/>
              </a:defRPr>
            </a:pPr>
            <a: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992624"/>
            <a:ext cx="9262872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172B46"/>
                </a:solidFill>
                <a:latin typeface="Segoe UI"/>
              </a:defRPr>
            </a:pPr>
            <a:r>
              <a:t>screenshots/ + .workbench/results/ (defaults)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422392"/>
            <a:ext cx="146304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205CB0"/>
                </a:solidFill>
                <a:latin typeface="Segoe UI"/>
              </a:defRPr>
            </a:pPr>
            <a:r>
              <a:t>DETAILS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394960"/>
            <a:ext cx="926287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172B46"/>
                </a:solidFill>
                <a:latin typeface="Segoe UI"/>
              </a:defRPr>
            </a:pPr>
            <a:r>
              <a:t>doc/operator_walkthrough.md • doc/operator_reference.md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797296"/>
            <a:ext cx="11091672" cy="493776"/>
          </a:xfrm>
          <a:prstGeom prst="rect">
            <a:avLst/>
          </a:prstGeom>
          <a:solidFill>
            <a:srgbClr val="E5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797296"/>
            <a:ext cx="38404" cy="493776"/>
          </a:xfrm>
          <a:prstGeom prst="rect">
            <a:avLst/>
          </a:prstGeom>
          <a:solidFill>
            <a:srgbClr val="955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955215"/>
                </a:solidFill>
                <a:latin typeface="Segoe UI"/>
              </a:defRPr>
            </a:pPr>
            <a:r>
              <a:t>REMEMBER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13432" y="5907024"/>
            <a:ext cx="9171432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172B46"/>
                </a:solidFill>
                <a:latin typeface="Segoe UI"/>
              </a:defRPr>
            </a:pPr>
            <a:r>
              <a:t>Saved profiles contain real credentials. Verify paths on another computer.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DDRCV operator guide — Field manual</dc:title>
  <dc:subject/>
  <dc:creator>DDRCV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