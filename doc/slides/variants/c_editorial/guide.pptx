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organizer's approved ZIP or checkout. Extract completely to a writable</a:t>
            </a:r>
          </a:p>
          <a:p>
            <a:r>
              <a:t>folder such as C:/Games/ddrcv, outside Program Files. Setup option 1 installs local</a:t>
            </a:r>
          </a:p>
          <a:p>
            <a:r>
              <a:t>x64 CPython 3.12; no existing Python is required. Options 2/3 select a compatible</a:t>
            </a:r>
          </a:p>
          <a:p>
            <a:r>
              <a:t>existing interpreter. Option 4 reuses an environment on subsequent runs. Setup checks</a:t>
            </a:r>
          </a:p>
          <a:p>
            <a:r>
              <a:t>actual OCR and WebView2. Retain error text on failure. Keep .venv and .tools/python</a:t>
            </a:r>
          </a:p>
          <a:p>
            <a:r>
              <a:t>with the installation; run setup again on another computer. The renderer repository</a:t>
            </a:r>
          </a:p>
          <a:p>
            <a:r>
              <a:t>and its assets are separate. Source: doc/installation.md; operator_walkthrough.md §§1–2.</a:t>
            </a:r>
          </a:p>
          <a:p>
            <a:r>
              <a:t>Screenshots in this deck are real forms captured in an isolated stopped session with</a:t>
            </a:r>
          </a:p>
          <a:p>
            <a:r>
              <a:t>example paths, no credentials, and no hardware or external integrations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UI detail is intentionally limited to source and mode controls. Capture</a:t>
            </a:r>
          </a:p>
          <a:p>
            <a:r>
              <a:t>camera: Scan, select the device, verify index. Different computers can assign different</a:t>
            </a:r>
          </a:p>
          <a:p>
            <a:r>
              <a:t>indices. RTSP requires full 1280x720 frames. Local video may explicitly resize full</a:t>
            </a:r>
          </a:p>
          <a:p>
            <a:r>
              <a:t>16:9 footage. Cropped or overlaid broadcasts remain unsuitable. Still-image diagnostics</a:t>
            </a:r>
          </a:p>
          <a:p>
            <a:r>
              <a:t>cannot establish temporal confirmation. EX is the desktop default; browser workbench</a:t>
            </a:r>
          </a:p>
          <a:p>
            <a:r>
              <a:t>defaults to Money. An existing profile can override either. A wrong mode affects live</a:t>
            </a:r>
          </a:p>
          <a:p>
            <a:r>
              <a:t>filtering and results interpretation. Leave Custom filter to a maintainer. Keep default</a:t>
            </a:r>
          </a:p>
          <a:p>
            <a:r>
              <a:t>publisher localhost:9000 for one machine; only one recognition session may own that</a:t>
            </a:r>
          </a:p>
          <a:p>
            <a:r>
              <a:t>port/outbox. Source: operator_walkthrough.md §3; driver_config.py.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screenshots show the stopped UI as a control-location reference, not an</a:t>
            </a:r>
          </a:p>
          <a:p>
            <a:r>
              <a:t>observed live session. Start uses the current form. Watch Running and healthy capture.</a:t>
            </a:r>
          </a:p>
          <a:p>
            <a:r>
              <a:t>View stream fetches a single snapshot; Refresh frame fetches another. Fresh capture</a:t>
            </a:r>
          </a:p>
          <a:p>
            <a:r>
              <a:t>does not imply fresh accepted scores; inspect the accepted-read age independently.</a:t>
            </a:r>
          </a:p>
          <a:p>
            <a:r>
              <a:t>Beginning before song splash provides presence evidence. Brief state confirmation delays</a:t>
            </a:r>
          </a:p>
          <a:p>
            <a:r>
              <a:t>are normal. Compare final scores, including full-combo endings, against the machine.</a:t>
            </a:r>
          </a:p>
          <a:p>
            <a:r>
              <a:t>Use the separate browser workbench for pause, seek, slow playback, and diagnostic export.</a:t>
            </a:r>
          </a:p>
          <a:p>
            <a:r>
              <a:t>Source: operator_walkthrough.md §4; tournament_desktop.md; tournament_handoff.md.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integrations are optional. Renderer: obtain the separate ddr_score_render</a:t>
            </a:r>
          </a:p>
          <a:p>
            <a:r>
              <a:t>repository/assets, select its root (containing apps/tbd5.py), apply path, then Start or</a:t>
            </a:r>
          </a:p>
          <a:p>
            <a:r>
              <a:t>Launch renderer. The renderer's visible output must match accepted scores; a process</a:t>
            </a:r>
          </a:p>
          <a:p>
            <a:r>
              <a:t>or client count is insufficient. Capture the window in OBS. OBS: enable its WebSocket</a:t>
            </a:r>
          </a:p>
          <a:p>
            <a:r>
              <a:t>server, enter host/port/password (usually localhost:4455), apply, connect and Check scenes.</a:t>
            </a:r>
          </a:p>
          <a:p>
            <a:r>
              <a:t>Default map: song_select/login/total_result to Commentator; song_splash/song_playing/</a:t>
            </a:r>
          </a:p>
          <a:p>
            <a:r>
              <a:t>song_result to Gameplay. Use exact existing scene names; null/omitted states hold and</a:t>
            </a:r>
          </a:p>
          <a:p>
            <a:r>
              <a:t>unknown always holds. No scenes are created. Manual switching inside DDRCV pauses</a:t>
            </a:r>
          </a:p>
          <a:p>
            <a:r>
              <a:t>automation; Enable automation resumes. Pause automation before switching directly in</a:t>
            </a:r>
          </a:p>
          <a:p>
            <a:r>
              <a:t>OBS. Set automatic launch/connect only after rehearsal. Source: walkthrough §§5–6;</a:t>
            </a:r>
          </a:p>
          <a:p>
            <a:r>
              <a:t>tournament_integrations.py; publish/obs_policy.py.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results defaults on for new profiles; a saved off setting is preserved.</a:t>
            </a:r>
          </a:p>
          <a:p>
            <a:r>
              <a:t>Choose a writable Screenshot folder. Default exported copies are in screenshots, while</a:t>
            </a:r>
          </a:p>
          <a:p>
            <a:r>
              <a:t>durable originals/history are in .workbench/results unless overridden. Filenames use UTC</a:t>
            </a:r>
          </a:p>
          <a:p>
            <a:r>
              <a:t>and a unique suffix. Include parsed names in filenames affects naming only. Screenshots</a:t>
            </a:r>
          </a:p>
          <a:p>
            <a:r>
              <a:t>only and Read names on results apply immediately; Apply results settings applies other</a:t>
            </a:r>
          </a:p>
          <a:p>
            <a:r>
              <a:t>Results controls without restarting gameplay or integrations. Saved results are unchanged.</a:t>
            </a:r>
          </a:p>
          <a:p>
            <a:r>
              <a:t>Parsed scores can post first and later names update the same message. Screenshots only</a:t>
            </a:r>
          </a:p>
          <a:p>
            <a:r>
              <a:t>saves a detected episode on departure or its original 10-second deadline and skips results</a:t>
            </a:r>
          </a:p>
          <a:p>
            <a:r>
              <a:t>score/name OCR; gameplay scoring continues. Money and screenshot-only results do not</a:t>
            </a:r>
          </a:p>
          <a:p>
            <a:r>
              <a:t>declare an EX winner. The separate login/song-splash names switch controls live names.</a:t>
            </a:r>
          </a:p>
          <a:p>
            <a:r>
              <a:t>Source: walkthrough §7; results_publishing.md;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Discord Webhook sends a real message using the entered URL, even when</a:t>
            </a:r>
          </a:p>
          <a:p>
            <a:r>
              <a:t>capture and publishing are off. It does not apply settings or enable publishing. Verify</a:t>
            </a:r>
          </a:p>
          <a:p>
            <a:r>
              <a:t>the intended channel. Publish results to Discord also checks Capture results; apply the</a:t>
            </a:r>
          </a:p>
          <a:p>
            <a:r>
              <a:t>Results controls. Retry/send needs Running capture, Capture results, Discord publishing,</a:t>
            </a:r>
          </a:p>
          <a:p>
            <a:r>
              <a:t>and a webhook. Inspect screenshots before sending. Queued/Sending/Retrying are ongoing;</a:t>
            </a:r>
          </a:p>
          <a:p>
            <a:r>
              <a:t>after failure fix the cause and Retry delivery. Retry name update edits the original</a:t>
            </a:r>
          </a:p>
          <a:p>
            <a:r>
              <a:t>message. Republish intentionally creates another post. Disabling publishing and applying</a:t>
            </a:r>
          </a:p>
          <a:p>
            <a:r>
              <a:t>pauses queues; an in-flight send may finish. Re-enabling resumes pending work. An entirely</a:t>
            </a:r>
          </a:p>
          <a:p>
            <a:r>
              <a:t>missed results screen cannot be recovered automatically. Source: operator_reference.md,</a:t>
            </a:r>
          </a:p>
          <a:p>
            <a:r>
              <a:t>Results recovery; desktop/static/desk.js;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loads a form without starting or replacing the active configuration. Save</a:t>
            </a:r>
          </a:p>
          <a:p>
            <a:r>
              <a:t>writes the form to a profile, including actual secrets/absolute paths, and does not apply</a:t>
            </a:r>
          </a:p>
          <a:p>
            <a:r>
              <a:t>pending edits. Start uses the current form. Apply configuration while stopped prepares</a:t>
            </a:r>
          </a:p>
          <a:p>
            <a:r>
              <a:t>it; Start runs it. Apply and Restart while running asks before resetting tracking.</a:t>
            </a:r>
          </a:p>
          <a:p>
            <a:r>
              <a:t>Results-only Apply preserves live gameplay and integrations. Name/screenshot-only toggles</a:t>
            </a:r>
          </a:p>
          <a:p>
            <a:r>
              <a:t>are immediate. Stop stops recognition and owned integrations but leaves the application</a:t>
            </a:r>
          </a:p>
          <a:p>
            <a:r>
              <a:t>available. Window close keeps the backend running; reopen from the tray or launcher.</a:t>
            </a:r>
          </a:p>
          <a:p>
            <a:r>
              <a:t>Exit application stops the backend and owned renderer; it does not close OBS itself.</a:t>
            </a:r>
          </a:p>
          <a:p>
            <a:r>
              <a:t>Source: operator_reference.md, Controls; desktop/controller.py and static/desk.js.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Rehearse on the actual event computer, capture device, renderer and scene</a:t>
            </a:r>
          </a:p>
          <a:p>
            <a:r>
              <a:t>collection. Observe selection, splash, gameplay, song results and total results. Check</a:t>
            </a:r>
          </a:p>
          <a:p>
            <a:r>
              <a:t>single-player presence, full-combo final score, capture reconnect and manual OBS/resume.</a:t>
            </a:r>
          </a:p>
          <a:p>
            <a:r>
              <a:t>Verify actual screenshot files and Discord delivery. Installation checks and these</a:t>
            </a:r>
          </a:p>
          <a:p>
            <a:r>
              <a:t>illustrative UI screenshots do not establish hardware readiness. Daily startup uses</a:t>
            </a:r>
          </a:p>
          <a:p>
            <a:r>
              <a:t>the saved profile, checks device/mode/integrations, then explicit Start. A reopened panel</a:t>
            </a:r>
          </a:p>
          <a:p>
            <a:r>
              <a:t>can already have a running backend; do not start a second app/CLI/workbench on its port.</a:t>
            </a:r>
          </a:p>
          <a:p>
            <a:r>
              <a:t>Source: walkthrough §8; operator_reference.md, Start an event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capture freshness separately from accepted-score freshness. Stale capture:</a:t>
            </a:r>
          </a:p>
          <a:p>
            <a:r>
              <a:t>check connection, index/RTSP, native 720p, ownership and errors. Frozen requested preview</a:t>
            </a:r>
          </a:p>
          <a:p>
            <a:r>
              <a:t>alone requires Refresh frame. Starting mid-song can lack presence evidence until a splash.</a:t>
            </a:r>
          </a:p>
          <a:p>
            <a:r>
              <a:t>For a bad high accepted score first verify mode/input, then reset only that player's</a:t>
            </a:r>
          </a:p>
          <a:p>
            <a:r>
              <a:t>tracking under Read details &amp; recent errors. This cannot correct saved results. A camera</a:t>
            </a:r>
          </a:p>
          <a:p>
            <a:r>
              <a:t>handoff probes the new source before replacing the old; success resets tracking while</a:t>
            </a:r>
          </a:p>
          <a:p>
            <a:r>
              <a:t>preserving integrations/results. A failed probe retains the old feed. For hardware that</a:t>
            </a:r>
          </a:p>
          <a:p>
            <a:r>
              <a:t>cannot open both, Stop/Start between songs. Port/outbox conflicts require stopping the</a:t>
            </a:r>
          </a:p>
          <a:p>
            <a:r>
              <a:t>other session; closing its panel is insufficient. Screenshot export errors may leave</a:t>
            </a:r>
          </a:p>
          <a:p>
            <a:r>
              <a:t>internal evidence still available for Discord. Source: operator_reference.md.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source folder/version, profile path, device/index/resolution, score mode,</a:t>
            </a:r>
          </a:p>
          <a:p>
            <a:r>
              <a:t>renderer path, OBS scene collection/mapping, screenshot folder, Discord channel owner,</a:t>
            </a:r>
          </a:p>
          <a:p>
            <a:r>
              <a:t>technical contact and manual evidence procedure. Fill the walkthrough's event table.</a:t>
            </a:r>
          </a:p>
          <a:p>
            <a:r>
              <a:t>Do not put passwords or webhook tokens in the deck. Profile JSON contains real secrets</a:t>
            </a:r>
          </a:p>
          <a:p>
            <a:r>
              <a:t>despite masking in the UI and saves absolute paths, which need checking on another PC.</a:t>
            </a:r>
          </a:p>
          <a:p>
            <a:r>
              <a:t>At shutdown inspect unresolved delivery, save intended changes, then Exit application.</a:t>
            </a:r>
          </a:p>
          <a:p>
            <a:r>
              <a:t>Keep screenshot exports and the durable outbox for evidence. Desktop logs/settings live</a:t>
            </a:r>
          </a:p>
          <a:p>
            <a:r>
              <a:t>in %LOCALAPPDATA%/DDRCV/tournament. Before updates fully exit, update source, rerun setup,</a:t>
            </a:r>
          </a:p>
          <a:p>
            <a:r>
              <a:t>reuse a compatible environment, and rehearse. Detailed references: operator_walkthrough.md,</a:t>
            </a:r>
          </a:p>
          <a:p>
            <a:r>
              <a:t>operator_reference.md, installation.md, tournament_handoff.md,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Install DDRCV and open the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A Windows guide from first setup to event handoff.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01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727198" cy="777240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2452878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GAME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245287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1280 × 720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282" y="1938528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A6402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9997" y="1737360"/>
            <a:ext cx="2727198" cy="777240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7157" y="1847088"/>
            <a:ext cx="2452878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DDRCV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7157" y="2103120"/>
            <a:ext cx="245287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Read state +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9199" y="1938528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A6402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39915" y="1737360"/>
            <a:ext cx="4908956" cy="777240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77075" y="1847088"/>
            <a:ext cx="463463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7075" y="2103120"/>
            <a:ext cx="4634636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Renderer / OBS • screenshots / Discord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07208"/>
            <a:ext cx="3218093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Before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2"/>
            <a:ext cx="3218093" cy="98526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302D29"/>
                </a:solidFill>
                <a:latin typeface="Segoe UI"/>
              </a:defRPr>
            </a:pPr>
            <a:r>
              <a:t>64-bit Windows</a:t>
            </a:r>
          </a:p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302D29"/>
                </a:solidFill>
                <a:latin typeface="Segoe UI"/>
              </a:defRPr>
            </a:pPr>
            <a:r>
              <a:t>First-install internet</a:t>
            </a:r>
          </a:p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302D29"/>
                </a:solidFill>
                <a:latin typeface="Segoe UI"/>
              </a:defRPr>
            </a:pPr>
            <a:r>
              <a:t>Full, clean game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17136"/>
            <a:ext cx="3218093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685E53"/>
                </a:solidFill>
                <a:latin typeface="Segoe UI"/>
              </a:defRPr>
            </a:pPr>
            <a:r>
              <a:t>Optional: event profile,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685E53"/>
                </a:solidFill>
                <a:latin typeface="Segoe UI"/>
              </a:defRPr>
            </a:pPr>
            <a:r>
              <a:t>renderer, OBS, webhook.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3933" y="2770632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A6402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1717" y="2770632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7869" y="2770632"/>
            <a:ext cx="55510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Put DDRCV in a writable folder, e.g. C:\Games\ddrcv.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3933" y="3401568"/>
            <a:ext cx="7324938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3933" y="3493008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A6402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1717" y="3493008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Set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7869" y="3493008"/>
            <a:ext cx="55510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setup_desktop.bat → option 1 (local Python).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3933" y="4123944"/>
            <a:ext cx="7324938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3933" y="4215383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A6402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1717" y="4215383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7869" y="4215383"/>
            <a:ext cx="55510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Continue after “Setup complete”.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3933" y="4846319"/>
            <a:ext cx="7324938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3933" y="4937760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A6402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1717" y="4937760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7869" y="4937760"/>
            <a:ext cx="55510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launch_desktop.vbs → the panel opens stopped.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SETUP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No Python install needed beforehand. Wait for success before launching.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Select the feed and the score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Status &amp; configuration → Source and Score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02 / 10</a:t>
            </a:r>
          </a:p>
        </p:txBody>
      </p:sp>
      <p:pic>
        <p:nvPicPr>
          <p:cNvPr id="10" name="Picture 9" descr="source-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10757845" cy="1444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255264"/>
            <a:ext cx="10908792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685E53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21024"/>
            <a:ext cx="347167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Capture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14215"/>
            <a:ext cx="347167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Scan → select device.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Verify Camera index.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640" y="3621024"/>
            <a:ext cx="347167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RTSP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4014215"/>
            <a:ext cx="347167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Enter Stream URL.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Feed must be 1280 × 720.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199" y="3621024"/>
            <a:ext cx="347167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Local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199" y="4014215"/>
            <a:ext cx="347167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Browse to a recording.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Resize only full 16:9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08576"/>
            <a:ext cx="10908792" cy="10972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754880"/>
            <a:ext cx="457200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A6402F"/>
                </a:solidFill>
                <a:latin typeface="Segoe UI"/>
              </a:defRPr>
            </a:pPr>
            <a:r>
              <a:t>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1" y="4727448"/>
            <a:ext cx="3449116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Event EX scoring.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Desktop default.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4476" y="4754880"/>
            <a:ext cx="96012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A6402F"/>
                </a:solidFill>
                <a:latin typeface="Segoe UI"/>
              </a:defRPr>
            </a:pPr>
            <a:r>
              <a:t>MONEY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900" y="4727448"/>
            <a:ext cx="420166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Score toward 1,000,000.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Workbench default.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865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865416"/>
                </a:solidFill>
                <a:latin typeface="Segoe UI"/>
              </a:defRPr>
            </a:pPr>
            <a:r>
              <a:t>CHECK THE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No borders, cropping, overlays, or stretching. Check mode on every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FIRST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Start, then verify picture, state, and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Click Start → Running. Begin before the song splash for player presence.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03 / 10</a:t>
            </a:r>
          </a:p>
        </p:txBody>
      </p:sp>
      <p:pic>
        <p:nvPicPr>
          <p:cNvPr id="10" name="Picture 9" descr="score-rea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10908792" cy="1663067"/>
          </a:xfrm>
          <a:prstGeom prst="rect">
            <a:avLst/>
          </a:prstGeom>
        </p:spPr>
      </p:pic>
      <p:pic>
        <p:nvPicPr>
          <p:cNvPr id="11" name="Picture 10" descr="frame-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19299"/>
            <a:ext cx="10908792" cy="732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315987"/>
            <a:ext cx="10908792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685E53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81163"/>
            <a:ext cx="347167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1 Picture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74355"/>
            <a:ext cx="347167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Refresh frame for a new picture.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Check capture 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4581163"/>
            <a:ext cx="347167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2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4974355"/>
            <a:ext cx="347167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Splash → gameplay → results.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Confirmed state should follow.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199" y="4581163"/>
            <a:ext cx="347167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3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199" y="4974355"/>
            <a:ext cx="347167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Compare with the machine.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Check last-read 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The picture is fresh and final scores agree, including a full-combo 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OPTIONAL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Connect the display and OBS scene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Apply edited paths and connection settings before using their buttons.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5207508" cy="10972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901952"/>
            <a:ext cx="487832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A6402F"/>
                </a:solidFill>
                <a:latin typeface="Segoe UI"/>
              </a:defRPr>
            </a:pPr>
            <a:r>
              <a:t>Score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304288"/>
            <a:ext cx="487832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685E53"/>
                </a:solidFill>
                <a:latin typeface="Segoe UI"/>
              </a:defRPr>
            </a:pPr>
            <a:r>
              <a:t>Renderer tab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1364" y="1737360"/>
            <a:ext cx="5207508" cy="10972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1901952"/>
            <a:ext cx="487832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A6402F"/>
                </a:solidFill>
                <a:latin typeface="Segoe UI"/>
              </a:defRPr>
            </a:pPr>
            <a:r>
              <a:t>Scene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304288"/>
            <a:ext cx="487832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685E53"/>
                </a:solidFill>
                <a:latin typeface="Segoe UI"/>
              </a:defRPr>
            </a:pPr>
            <a:r>
              <a:t>OBS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633472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670048"/>
            <a:ext cx="437540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Select the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3035808"/>
            <a:ext cx="435711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Browse to the separate ddr_score_render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folder.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621024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3657600"/>
            <a:ext cx="437540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Apply, then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4023360"/>
            <a:ext cx="435711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Start, or use Launch renderer after capture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starts.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608576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645152"/>
            <a:ext cx="437540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Check the actual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5010912"/>
            <a:ext cx="435711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Compare scores, then capture that window in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OBS.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956" y="2633472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2300" y="2670048"/>
            <a:ext cx="437540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Connect and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2300" y="3035808"/>
            <a:ext cx="435711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Enable OBS WebSocket. Enter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host/port/password; Apply → Connect.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5956" y="3621024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300" y="3657600"/>
            <a:ext cx="437540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Map existing scenes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2300" y="4023360"/>
            <a:ext cx="435711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Use exact scene names → Check scenes →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Enable automation.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956" y="4608576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2300" y="4645152"/>
            <a:ext cx="437540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Practice manual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2300" y="5010912"/>
            <a:ext cx="435711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Switch scene &amp; pause automation. Enable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automation resumes.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LIVE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Watch the renderer and OBS themselves; “connected” alone is not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Choose the results evidence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Results → Capture results ON → choose a writable Screenshot folder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908792" cy="429768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56231"/>
            <a:ext cx="248977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2462" y="1856231"/>
            <a:ext cx="2053422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SCREENSHOTS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8764" y="1856231"/>
            <a:ext cx="2053422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READ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5066" y="1856231"/>
            <a:ext cx="3580653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62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68296"/>
            <a:ext cx="247148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Scores +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2462" y="2368296"/>
            <a:ext cx="20351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302D29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8764" y="2368296"/>
            <a:ext cx="20351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302D29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5066" y="2368296"/>
            <a:ext cx="3562365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Scores first; names can update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39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154679"/>
            <a:ext cx="247148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Scores + P1/P2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2462" y="3154679"/>
            <a:ext cx="20351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302D29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8764" y="3154679"/>
            <a:ext cx="20351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302D29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5066" y="3154679"/>
            <a:ext cx="3562365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Keep scores without player-name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parsing.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35423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41063"/>
            <a:ext cx="247148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Screenshot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2462" y="3941063"/>
            <a:ext cx="20351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302D29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8764" y="3941063"/>
            <a:ext cx="20351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302D29"/>
                </a:solidFill>
                <a:latin typeface="Segoe UI"/>
              </a:defRPr>
            </a:pPr>
            <a:r>
              <a:t>Either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5066" y="3941063"/>
            <a:ext cx="3562365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Save on results departure or after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10 seconds.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36592"/>
            <a:ext cx="5345308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A6402F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38928"/>
            <a:ext cx="512713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Applies Results controls without resetting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gameplay scores.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1739" y="4736592"/>
            <a:ext cx="5127132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A6402F"/>
                </a:solidFill>
                <a:latin typeface="Segoe UI"/>
              </a:defRPr>
            </a:pPr>
            <a:r>
              <a:t>Immediate switches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1739" y="5138928"/>
            <a:ext cx="512713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Screenshots only and Read names on results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302D29"/>
                </a:solidFill>
                <a:latin typeface="Segoe UI"/>
              </a:defRPr>
            </a:pPr>
            <a:r>
              <a:t>apply as you toggle them.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865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865416"/>
                </a:solidFill>
                <a:latin typeface="Segoe UI"/>
              </a:defRPr>
            </a:pPr>
            <a:r>
              <a:t>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A completely missed results screen has no automatic screenshot to recover.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DISCORD +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Verify the destination, then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Results → Webhook URL. A webhook test sends a real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06 / 10</a:t>
            </a:r>
          </a:p>
        </p:txBody>
      </p:sp>
      <p:pic>
        <p:nvPicPr>
          <p:cNvPr id="10" name="Picture 9" descr="discord-web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10908792" cy="9303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722611"/>
            <a:ext cx="10908792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685E53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6931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033507"/>
            <a:ext cx="5496915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Test the 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3399267"/>
            <a:ext cx="5478627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Click Test Discord Webhook; inspect the channel.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93043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3929619"/>
            <a:ext cx="5496915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Enable automatic posts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4295379"/>
            <a:ext cx="5478627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Publish results to Discord → Apply results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89155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4825731"/>
            <a:ext cx="5496915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Verify one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5191491"/>
            <a:ext cx="5478627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Complete a song; inspect the screenshot and Discord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post.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9955" y="3033507"/>
            <a:ext cx="4588916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A6402F"/>
                </a:solidFill>
                <a:latin typeface="Segoe UI"/>
              </a:defRPr>
            </a:pPr>
            <a:r>
              <a:t>Recent results &amp;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9955" y="3591291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A6402F"/>
                </a:solidFill>
                <a:latin typeface="Segoe UI"/>
              </a:defRPr>
            </a:pPr>
            <a:r>
              <a:t>Saved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3591291"/>
            <a:ext cx="339105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Send saved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59955" y="3957051"/>
            <a:ext cx="4588916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9955" y="4030203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A6402F"/>
                </a:solidFill>
                <a:latin typeface="Segoe UI"/>
              </a:defRPr>
            </a:pPr>
            <a:r>
              <a:t>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7819" y="4030203"/>
            <a:ext cx="339105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Wait; check connectivity.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9955" y="4395963"/>
            <a:ext cx="4588916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9955" y="4469115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A6402F"/>
                </a:solidFill>
                <a:latin typeface="Segoe UI"/>
              </a:defRPr>
            </a:pPr>
            <a:r>
              <a:t>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7819" y="4469115"/>
            <a:ext cx="339105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Fix → Retry delivery.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59955" y="4834875"/>
            <a:ext cx="4588916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9955" y="4908027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A6402F"/>
                </a:solidFill>
                <a:latin typeface="Segoe UI"/>
              </a:defRPr>
            </a:pPr>
            <a:r>
              <a:t>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7819" y="4908027"/>
            <a:ext cx="339105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Open Discord message.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9955" y="5273787"/>
            <a:ext cx="4588916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59955" y="5346939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A6402F"/>
                </a:solidFill>
                <a:latin typeface="Segoe UI"/>
              </a:defRPr>
            </a:pPr>
            <a:r>
              <a:t>Republish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7819" y="5346939"/>
            <a:ext cx="339105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Creates another post.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SEND / RETRY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Needs running capture, Capture results, Discord publishing, and a webhook.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Know what applies, resets, or keeps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The form, running session, and saved profile can contain different settings.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5856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28800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Save / Save as…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1828800"/>
            <a:ext cx="724204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Write the form to a profile. Running settings stay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9503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59736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3" y="2459736"/>
            <a:ext cx="724204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Run with the settings currently in the 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0439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090672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Apply and Restart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3" y="3090672"/>
            <a:ext cx="724204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Apply pending edits; reset live score tracking. Use between songs.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5137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3" y="3721607"/>
            <a:ext cx="724204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Apply only Results controls; keep gameplay scores.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82312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52544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Close window / Alt+F4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3" y="4352544"/>
            <a:ext cx="724204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Capture continues. Reopen from the tray or launcher.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1324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983479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Stop / Exit application…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4983479"/>
            <a:ext cx="724204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Stop capture. Exit also closes the backend; OBS stays open.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WHILE STOPPED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Apply configuration prepares settings; click Start to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EVENT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Rehearse once; repeat the startup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Use the actual tournament computer, capture device, renderer, and OBS collection.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908792" cy="502920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856231"/>
            <a:ext cx="1057960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A6402F"/>
                </a:solidFill>
                <a:latin typeface="Segoe UI"/>
              </a:defRPr>
            </a:pPr>
            <a:r>
              <a:t>Song selection → splash → gameplay → song results → total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23744"/>
            <a:ext cx="519836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A6402F"/>
                </a:solidFill>
                <a:latin typeface="Segoe UI"/>
              </a:defRPr>
            </a:pPr>
            <a:r>
              <a:t>Before the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508" y="2523744"/>
            <a:ext cx="519836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A6402F"/>
                </a:solidFill>
                <a:latin typeface="Segoe UI"/>
              </a:defRPr>
            </a:pPr>
            <a:r>
              <a:t>Every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08376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044952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3410712"/>
            <a:ext cx="4677155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Two players, one player, full-combo ending.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2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950208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4315968"/>
            <a:ext cx="46771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Capture reconnect; manual OBS scene and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resume.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18888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4855464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5221224"/>
            <a:ext cx="46771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Verify screenshot files and the actual Discord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post.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508" y="3008376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6852" y="3044952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6852" y="3410712"/>
            <a:ext cx="46771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Connect hardware → launch → open the event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profile.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508" y="3913632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6852" y="3950208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6852" y="4315968"/>
            <a:ext cx="4677155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Source/index, EX/Money, and integrations.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508" y="4818888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6852" y="4855464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6852" y="5221224"/>
            <a:ext cx="46771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Check capture freshness, accepted scores,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display, and scenes.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HANDOFF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Another operator can start the station and recover a saved result unaided.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Check the failing part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Read details &amp; recent errors explains rejected reads and recent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28800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No picture / stale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1828800"/>
            <a:ext cx="716889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Check cable, index/URL, 720p, and capture-device ownership.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79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68879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Preview looks frozen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468879"/>
            <a:ext cx="716889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Refresh frame. This preview is a requested snapshot.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08960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Wrong / stuck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108960"/>
            <a:ext cx="716889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Check framing + EX/Money; inspect rejected-read details.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49039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One bad accepted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3749039"/>
            <a:ext cx="716889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Reset P1/P2 tracking clears that live score. Saved results stay.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46319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89119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Blank display / wrong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816" y="4389119"/>
            <a:ext cx="716889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Check renderer output, OBS scene names, and automation.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86400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029200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A6402F"/>
                </a:solidFill>
                <a:latin typeface="Segoe UI"/>
              </a:defRPr>
            </a:pPr>
            <a:r>
              <a:t>Port / outbox already in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5029200"/>
            <a:ext cx="716889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Stop the other app/workbench/CLI; it may still be running.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47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47634C"/>
                </a:solidFill>
                <a:latin typeface="Segoe UI"/>
              </a:defRPr>
            </a:pPr>
            <a:r>
              <a:t>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Unreliable results text? Enable Screenshots only; gameplay scores continue.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6012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A6402F"/>
                </a:solidFill>
                <a:latin typeface="Segoe UI"/>
              </a:defRPr>
            </a:pPr>
            <a:r>
              <a:t>DDRCV / HANDOFF +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7896" y="228600"/>
            <a:ext cx="969264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b="0" sz="3600">
                <a:solidFill>
                  <a:srgbClr val="A6402F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76656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13816"/>
            <a:ext cx="1072591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0" sz="3000">
                <a:solidFill>
                  <a:srgbClr val="302D29"/>
                </a:solidFill>
                <a:latin typeface="Georgia"/>
              </a:defRPr>
            </a:pPr>
            <a:r>
              <a:t>Leave a usable profile and an evidence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685E53"/>
                </a:solidFill>
                <a:latin typeface="Segoe UI"/>
              </a:defRPr>
            </a:pPr>
            <a:r>
              <a:t>Fill the event setup table in the written walkthrough before handing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999439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685E53"/>
                </a:solidFill>
                <a:latin typeface="Segoe UI"/>
              </a:defRPr>
            </a:pPr>
            <a:r>
              <a:t>DDRCV • Editorial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1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685E53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198364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A6402F"/>
                </a:solidFill>
                <a:latin typeface="Segoe UI"/>
              </a:defRPr>
            </a:pPr>
            <a:r>
              <a:t>Record for the next operator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39"/>
            <a:ext cx="105156" cy="105156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13432"/>
            <a:ext cx="492404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Profile path + DDRCV folder/version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25495"/>
            <a:ext cx="105156" cy="105156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61487"/>
            <a:ext cx="492404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Capture device/index + EX/Money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73551"/>
            <a:ext cx="105156" cy="105156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209544"/>
            <a:ext cx="492404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Renderer folder + OBS scenes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21608"/>
            <a:ext cx="105156" cy="105156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57600"/>
            <a:ext cx="492404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Screenshot folder + Discord 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69664"/>
            <a:ext cx="105156" cy="105156"/>
          </a:xfrm>
          <a:prstGeom prst="rect">
            <a:avLst/>
          </a:prstGeom>
          <a:solidFill>
            <a:srgbClr val="A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05656"/>
            <a:ext cx="492404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302D29"/>
                </a:solidFill>
                <a:latin typeface="Segoe UI"/>
              </a:defRPr>
            </a:pPr>
            <a:r>
              <a:t>Technical contact + manual-results procedure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508" y="1737360"/>
            <a:ext cx="5198364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A6402F"/>
                </a:solidFill>
                <a:latin typeface="Segoe UI"/>
              </a:defRPr>
            </a:pPr>
            <a:r>
              <a:t>End the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2258568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6852" y="2295144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Inspect deliveries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6852" y="2660903"/>
            <a:ext cx="4677155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Resolve failures or retain the queued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508" y="3063239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6852" y="3099815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Save intended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6852" y="3465575"/>
            <a:ext cx="4677155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Save the profile; keep credentials private.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8" y="3867911"/>
            <a:ext cx="356616" cy="43078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068"/>
              </a:lnSpc>
              <a:spcBef>
                <a:spcPts val="0"/>
              </a:spcBef>
              <a:spcAft>
                <a:spcPts val="0"/>
              </a:spcAft>
              <a:defRPr b="0" sz="2600">
                <a:solidFill>
                  <a:srgbClr val="A6402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6852" y="3904487"/>
            <a:ext cx="46954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302D29"/>
                </a:solidFill>
                <a:latin typeface="Segoe UI"/>
              </a:defRPr>
            </a:pPr>
            <a:r>
              <a:t>Exit application…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6852" y="4270248"/>
            <a:ext cx="4677155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Keep screenshots and the Results outbox.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64608"/>
            <a:ext cx="10908792" cy="10972"/>
          </a:xfrm>
          <a:prstGeom prst="rect">
            <a:avLst/>
          </a:prstGeom>
          <a:solidFill>
            <a:srgbClr val="CCB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020056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39" y="4992624"/>
            <a:ext cx="907999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302D29"/>
                </a:solidFill>
                <a:latin typeface="Segoe UI"/>
              </a:defRPr>
            </a:pPr>
            <a:r>
              <a:t>screenshots/ + .workbench/results/ (defaults)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22392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A6402F"/>
                </a:solidFill>
                <a:latin typeface="Segoe UI"/>
              </a:defRPr>
            </a:pPr>
            <a:r>
              <a:t>DETAILS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39" y="5394960"/>
            <a:ext cx="907999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doc/operator_walkthrough.md • doc/operator_reference.md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797296"/>
            <a:ext cx="10908792" cy="493776"/>
          </a:xfrm>
          <a:prstGeom prst="rect">
            <a:avLst/>
          </a:prstGeom>
          <a:solidFill>
            <a:srgbClr val="EB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797296"/>
            <a:ext cx="38404" cy="493776"/>
          </a:xfrm>
          <a:prstGeom prst="rect">
            <a:avLst/>
          </a:prstGeom>
          <a:solidFill>
            <a:srgbClr val="865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865416"/>
                </a:solidFill>
                <a:latin typeface="Segoe UI"/>
              </a:defRPr>
            </a:pPr>
            <a:r>
              <a:t>REMEMBER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04872" y="5907024"/>
            <a:ext cx="898855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302D29"/>
                </a:solidFill>
                <a:latin typeface="Segoe UI"/>
              </a:defRPr>
            </a:pPr>
            <a:r>
              <a:t>Saved profiles contain real credentials. Verify paths on another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DDRCV operator guide — Editorial</dc:title>
  <dc:subject/>
  <dc:creator>DDRCV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